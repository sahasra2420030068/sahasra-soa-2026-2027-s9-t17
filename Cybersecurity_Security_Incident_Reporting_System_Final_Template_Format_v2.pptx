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13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13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13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hyperlink" Target="https://svgsilh.com/03a9f4/image/98809.html" TargetMode="External"/><Relationship Id="rId5" Type="http://schemas.openxmlformats.org/officeDocument/2006/relationships/diagramData" Target="../diagrams/data1.xml"/><Relationship Id="rId6" Type="http://schemas.openxmlformats.org/officeDocument/2006/relationships/diagramLayout" Target="../diagrams/layout1.xml"/><Relationship Id="rId7" Type="http://schemas.openxmlformats.org/officeDocument/2006/relationships/diagramQuickStyle" Target="../diagrams/quickStyle1.xml"/><Relationship Id="rId8" Type="http://schemas.openxmlformats.org/officeDocument/2006/relationships/diagramColors" Target="../diagrams/colors1.xml"/><Relationship Id="rId9" Type="http://schemas.microsoft.com/office/2007/relationships/diagramDrawing" Target="../diagrams/drawing1.xml"/><Relationship Id="rId10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  <a:latin typeface="Aptos"/>
                        </a:rPr>
                        <a:t>Team Members</a:t>
                      </a:r>
                    </a:p>
                    <a:p/>
                    <a:p>
                      <a:r>
                        <a:rPr sz="1500" b="0">
                          <a:solidFill>
                            <a:srgbClr val="232323"/>
                          </a:solidFill>
                          <a:latin typeface="Aptos"/>
                        </a:rPr>
                        <a:t>rakesh vardhan — 2420090090</a:t>
                      </a:r>
                    </a:p>
                    <a:p>
                      <a:r>
                        <a:rPr sz="1500" b="0">
                          <a:solidFill>
                            <a:srgbClr val="232323"/>
                          </a:solidFill>
                          <a:latin typeface="Aptos"/>
                        </a:rPr>
                        <a:t>sahasra.k — 2420030068</a:t>
                      </a:r>
                    </a:p>
                    <a:p>
                      <a:r>
                        <a:rPr sz="1500" b="0">
                          <a:solidFill>
                            <a:srgbClr val="232323"/>
                          </a:solidFill>
                          <a:latin typeface="Aptos"/>
                        </a:rPr>
                        <a:t>sahasra.M — 2420030459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ptos"/>
                        </a:rPr>
                        <a:t>Under the Guidance of</a:t>
                      </a:r>
                    </a:p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ptos"/>
                        </a:rPr>
                        <a:t>Dr.XXXXXX</a:t>
                      </a:r>
                    </a:p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ptos"/>
                        </a:rPr>
                        <a:t>XXXXXX Professor,</a:t>
                      </a:r>
                    </a:p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ptos"/>
                        </a:rPr>
                        <a:t>Department of Computer Science and Engineering,</a:t>
                      </a:r>
                    </a:p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ptos"/>
                        </a:rPr>
                        <a:t>KLH CSE Bowrampet Campus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Dr.XXXXXX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XXXXXX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300" b="0">
                <a:solidFill>
                  <a:srgbClr val="5A5A5A"/>
                </a:solidFill>
                <a:latin typeface="Aptos"/>
              </a:rPr>
              <a:t>20-08-2026</a:t>
            </a:r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sz="1400" b="1">
                <a:solidFill>
                  <a:srgbClr val="1F4E79"/>
                </a:solidFill>
                <a:latin typeface="Aptos"/>
              </a:rPr>
              <a:t>SOA Programming Microservices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400" b="1" dirty="0">
                <a:solidFill>
                  <a:srgbClr val="1F4E79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F4E79"/>
                </a:solidFill>
                <a:latin typeface="Aptos"/>
              </a:rPr>
              <a:t>Cybersecurity: Security Incident Reporting System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 w="0"/>
                <a:solidFill>
                  <a:srgbClr val="1F4E79"/>
                </a:solidFill>
                <a:effectLst/>
                <a:uLnTx/>
                <a:uFillTx/>
                <a:latin typeface="Aptos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sz="1400" b="1">
                  <a:solidFill>
                    <a:srgbClr val="1F4E79"/>
                  </a:solidFill>
                  <a:latin typeface="Aptos"/>
                </a:rPr>
                <a:t>Focus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sz="1400" b="1">
                  <a:solidFill>
                    <a:srgbClr val="1F4E79"/>
                  </a:solidFill>
                  <a:latin typeface="Aptos"/>
                </a:rPr>
                <a:t>Introduction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sz="1400" b="1">
                  <a:solidFill>
                    <a:srgbClr val="1F4E79"/>
                  </a:solidFill>
                  <a:latin typeface="Aptos"/>
                </a:rPr>
                <a:t>Problem Statement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sz="1400" b="1">
                  <a:solidFill>
                    <a:srgbClr val="1F4E79"/>
                  </a:solidFill>
                  <a:latin typeface="Aptos"/>
                </a:rPr>
                <a:t>Research Objectives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sz="1400" b="1">
                  <a:solidFill>
                    <a:srgbClr val="1F4E79"/>
                  </a:solidFill>
                  <a:latin typeface="Aptos"/>
                </a:rPr>
                <a:t>Literature Survey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sz="1400" b="1">
                  <a:solidFill>
                    <a:srgbClr val="1F4E79"/>
                  </a:solidFill>
                  <a:latin typeface="Aptos"/>
                </a:rPr>
                <a:t>Research Gap Identification</a:t>
              </a: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sz="1400" b="1">
                  <a:solidFill>
                    <a:srgbClr val="1F4E79"/>
                  </a:solidFill>
                  <a:latin typeface="Aptos"/>
                </a:rPr>
                <a:t>Innovation, Creativity &amp; Novelty</a:t>
              </a: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sz="1400" b="1">
                  <a:solidFill>
                    <a:srgbClr val="1F4E79"/>
                  </a:solidFill>
                  <a:latin typeface="Aptos"/>
                </a:rPr>
                <a:t>Challenges</a:t>
              </a: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F4E79"/>
                </a:solidFill>
                <a:latin typeface="Aptos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solidFill>
            <a:srgbClr val="F5F8FC"/>
          </a:solidFill>
          <a:ln w="12700">
            <a:solidFill>
              <a:srgbClr val="1F4E79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r>
              <a:rPr sz="1800" b="0">
                <a:solidFill>
                  <a:srgbClr val="232323"/>
                </a:solidFill>
                <a:latin typeface="Aptos"/>
              </a:rPr>
              <a:t>Organizations receive cybersecurity incidents through multiple channels, making it difficult to maintain a single source of truth.</a:t>
            </a:r>
            <a:br/>
            <a:br/>
            <a:r>
              <a:rPr sz="1800" b="0">
                <a:solidFill>
                  <a:srgbClr val="232323"/>
                </a:solidFill>
                <a:latin typeface="Aptos"/>
              </a:rPr>
              <a:t>Manual reporting can lead to incomplete information, delayed triage, duplicate records, and poor visibility into incident status.</a:t>
            </a:r>
            <a:br/>
            <a:br/>
            <a:r>
              <a:rPr sz="1800" b="0">
                <a:solidFill>
                  <a:srgbClr val="232323"/>
                </a:solidFill>
                <a:latin typeface="Aptos"/>
              </a:rPr>
              <a:t>A security incident reporting platform must protect sensitive information, enforce role-based access, and maintain an auditable incident history.</a:t>
            </a:r>
            <a:br/>
            <a:br/>
            <a:r>
              <a:rPr sz="1800" b="0">
                <a:solidFill>
                  <a:srgbClr val="232323"/>
                </a:solidFill>
                <a:latin typeface="Aptos"/>
              </a:rPr>
              <a:t>The proposed system provides a centralized, authenticated, searchable, and trackable workflow for incident reporting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F4E79"/>
                </a:solidFill>
                <a:latin typeface="Aptos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417320"/>
            <a:ext cx="3246120" cy="4434840"/>
          </a:xfrm>
          <a:prstGeom prst="rect">
            <a:avLst/>
          </a:prstGeom>
          <a:solidFill>
            <a:srgbClr val="DDEBF7"/>
          </a:solidFill>
          <a:ln w="12700">
            <a:solidFill>
              <a:srgbClr val="1F4E79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Aptos"/>
              </a:rPr>
              <a:t>ANALYZE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Analyze incident reports, affected assets, evidence, severity and category.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Identify incomplete information and priority indicators.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Search historical incidents for relevant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0791" y="1417320"/>
            <a:ext cx="3246120" cy="4434840"/>
          </a:xfrm>
          <a:prstGeom prst="rect">
            <a:avLst/>
          </a:prstGeom>
          <a:solidFill>
            <a:srgbClr val="DDEBF7"/>
          </a:solidFill>
          <a:ln w="12700">
            <a:solidFill>
              <a:srgbClr val="1F4E79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Aptos"/>
              </a:rPr>
              <a:t>BUILD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Build a centralized web-based incident reporting platform.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Implement REST APIs with Spring Boot and PostgreSQL.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Provide dashboards for reporting, investigation and tracking.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8664" y="1417320"/>
            <a:ext cx="3246120" cy="4434840"/>
          </a:xfrm>
          <a:prstGeom prst="rect">
            <a:avLst/>
          </a:prstGeom>
          <a:solidFill>
            <a:srgbClr val="DDEBF7"/>
          </a:solidFill>
          <a:ln w="12700">
            <a:solidFill>
              <a:srgbClr val="1F4E79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Aptos"/>
              </a:rPr>
              <a:t>INTEGRATE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Integrate JWT authentication and Spring Security.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Integrate Elasticsearch for fast incident search.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Use Docker for consistent deployment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08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  <a:latin typeface="Aptos"/>
                        </a:rPr>
                        <a:t>Authors / Source</a:t>
                      </a:r>
                    </a:p>
                  </a:txBody>
                  <a:tcPr marL="45720" marR="45720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  <a:latin typeface="Aptos"/>
                        </a:rPr>
                        <a:t>Topic</a:t>
                      </a:r>
                    </a:p>
                  </a:txBody>
                  <a:tcPr marL="45720" marR="45720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  <a:latin typeface="Aptos"/>
                        </a:rPr>
                        <a:t>Methodology / Technology</a:t>
                      </a:r>
                    </a:p>
                  </a:txBody>
                  <a:tcPr marL="45720" marR="45720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  <a:latin typeface="Aptos"/>
                        </a:rPr>
                        <a:t>Key Inference</a:t>
                      </a:r>
                    </a:p>
                  </a:txBody>
                  <a:tcPr marL="45720" marR="45720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  <a:latin typeface="Aptos"/>
                        </a:rPr>
                        <a:t>Limitation / Gap</a:t>
                      </a:r>
                    </a:p>
                  </a:txBody>
                  <a:tcPr marL="45720" marR="45720" marT="27432" marB="27432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OWASP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Security Incident Management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Security logging, incident handling and secure workflows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Structured reporting and auditability are important for security operations.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General guidance; does not provide a complete application architecture.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Spring Security Documentation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Application Security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JWT, authentication, authorization, role-based access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Secure APIs require strong authentication and access control.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Framework-level guidance; integration depends on application design.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Elasticsearch Documentation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Search &amp; Analytics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Full-text indexing, filtering and search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Indexing enables fast retrieval of historical incident records.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Search alone does not provide an end-to-end incident workflow.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1F4E79"/>
                </a:solidFill>
                <a:latin typeface="Aptos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F4E79"/>
                </a:solidFill>
                <a:latin typeface="Aptos"/>
              </a:rPr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325880"/>
            <a:ext cx="10424160" cy="4572000"/>
          </a:xfrm>
          <a:prstGeom prst="rect">
            <a:avLst/>
          </a:prstGeom>
          <a:solidFill>
            <a:srgbClr val="F5F8FC"/>
          </a:solidFill>
          <a:ln w="12700">
            <a:solidFill>
              <a:srgbClr val="1F4E79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32323"/>
                </a:solidFill>
                <a:latin typeface="Aptos"/>
              </a:rPr>
              <a:t>• Many incident reporting solutions behave mainly as generic ticketing systems.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323"/>
                </a:solidFill>
                <a:latin typeface="Aptos"/>
              </a:rPr>
              <a:t>• Security-specific fields such as severity, affected assets, evidence and incident category are not always structured.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323"/>
                </a:solidFill>
                <a:latin typeface="Aptos"/>
              </a:rPr>
              <a:t>• Incident information may be distributed across email, chat, spreadsheets and separate tools.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323"/>
                </a:solidFill>
                <a:latin typeface="Aptos"/>
              </a:rPr>
              <a:t>• Historical incident search and correlation can be limited without fast indexing.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323"/>
                </a:solidFill>
                <a:latin typeface="Aptos"/>
              </a:rPr>
              <a:t>• Sensitive incident information requires strong authentication, role-based access and auditability.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F4E79"/>
                </a:solidFill>
                <a:latin typeface="Aptos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1417320"/>
            <a:ext cx="3337560" cy="4526280"/>
          </a:xfrm>
          <a:prstGeom prst="rect">
            <a:avLst/>
          </a:prstGeom>
          <a:solidFill>
            <a:srgbClr val="DDEBF7"/>
          </a:solidFill>
          <a:ln w="12700">
            <a:solidFill>
              <a:srgbClr val="1F4E79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Aptos"/>
              </a:rPr>
              <a:t>INNOVATION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Centralized cybersecurity incident reporting.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Structured severity, priority and classification.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Elasticsearch-powered incident search.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Role-based access and secure authentication.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0791" y="1417320"/>
            <a:ext cx="3337560" cy="4526280"/>
          </a:xfrm>
          <a:prstGeom prst="rect">
            <a:avLst/>
          </a:prstGeom>
          <a:solidFill>
            <a:srgbClr val="DDEBF7"/>
          </a:solidFill>
          <a:ln w="12700">
            <a:solidFill>
              <a:srgbClr val="1F4E79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Aptos"/>
              </a:rPr>
              <a:t>CREATIVITY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Guided incident submission.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Dashboard for open, high-priority and resolved incidents.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Incident timeline for investigation updates.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Clear separation of reporting, investigation and administration.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0104" y="1417320"/>
            <a:ext cx="3337560" cy="4526280"/>
          </a:xfrm>
          <a:prstGeom prst="rect">
            <a:avLst/>
          </a:prstGeom>
          <a:solidFill>
            <a:srgbClr val="DDEBF7"/>
          </a:solidFill>
          <a:ln w="12700">
            <a:solidFill>
              <a:srgbClr val="1F4E79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Aptos"/>
              </a:rPr>
              <a:t>NOVELTY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Dedicated security workflow rather than generic feedback.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JWT + Spring Security + PostgreSQL + Elasticsearch.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Complete incident lifecycle from report to closure.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Docker-based, repeatable deployment.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  <a:latin typeface="Aptos"/>
              </a:rPr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170432"/>
            <a:ext cx="1115568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Aptos"/>
              </a:rPr>
              <a:t>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2670048" cy="74980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Aptos"/>
              </a:rPr>
              <a:t>Technical</a:t>
            </a:r>
          </a:p>
          <a:p>
            <a:r>
              <a:rPr sz="850">
                <a:solidFill>
                  <a:srgbClr val="282828"/>
                </a:solidFill>
                <a:latin typeface="Aptos"/>
              </a:rPr>
              <a:t>Uses established technologies: React, Spring Boot, PostgreSQL, REST APIs, JWT, Spring Security, Docker and Elasticsearch.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39" y="1627632"/>
            <a:ext cx="2670048" cy="74980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Aptos"/>
              </a:rPr>
              <a:t>Economic</a:t>
            </a:r>
          </a:p>
          <a:p>
            <a:r>
              <a:rPr sz="850">
                <a:solidFill>
                  <a:srgbClr val="282828"/>
                </a:solidFill>
                <a:latin typeface="Aptos"/>
              </a:rPr>
              <a:t>Prototype can be developed with open-source tools and free or low-cost development resources.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1627632"/>
            <a:ext cx="2670048" cy="74980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Aptos"/>
              </a:rPr>
              <a:t>Operational</a:t>
            </a:r>
          </a:p>
          <a:p>
            <a:r>
              <a:rPr sz="850">
                <a:solidFill>
                  <a:srgbClr val="282828"/>
                </a:solidFill>
                <a:latin typeface="Aptos"/>
              </a:rPr>
              <a:t>A centralized dashboard supports incident reporting, investigation, tracking and 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27632"/>
            <a:ext cx="2670048" cy="74980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Aptos"/>
              </a:rPr>
              <a:t>Security</a:t>
            </a:r>
          </a:p>
          <a:p>
            <a:r>
              <a:rPr sz="850">
                <a:solidFill>
                  <a:srgbClr val="282828"/>
                </a:solidFill>
                <a:latin typeface="Aptos"/>
              </a:rPr>
              <a:t>Authentication, role-based access and auditability protect sensitive incident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78608"/>
            <a:ext cx="1115568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Aptos"/>
              </a:rPr>
              <a:t>PROJECT PLAN — 11 PHASES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8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1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Requirement Analysis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36391" y="348386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64991" y="315468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2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Literature Survey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07023" y="348386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35624" y="315468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3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Data / Incident Preparation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77656" y="348386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906256" y="315468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4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Security Workflow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16052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5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Database &amp; API Development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36391" y="448970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64991" y="416052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6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Authentication Integration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07023" y="448970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35624" y="416052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7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Elasticsearch Integration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77656" y="448970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06256" y="416052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8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Frontend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16636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9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System Integration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36391" y="549554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364991" y="516636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10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Testing &amp; Validation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07023" y="549554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35624" y="516636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11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Documentation &amp; Deployment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865376" y="3813048"/>
            <a:ext cx="8311896" cy="347472"/>
          </a:xfrm>
          <a:prstGeom prst="bentConnector3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865376" y="4818888"/>
            <a:ext cx="8311896" cy="347472"/>
          </a:xfrm>
          <a:prstGeom prst="bentConnector3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FINAL OUTCOME: Secure, centralized incident reporting • Searchable records • Role-based access • Trackable incident lifecycle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204</Words>
  <Application>Microsoft Office PowerPoint</Application>
  <PresentationFormat>Widescreen</PresentationFormat>
  <Paragraphs>61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Neelima Gogineni</cp:lastModifiedBy>
  <cp:revision>32</cp:revision>
  <dcterms:created xsi:type="dcterms:W3CDTF">2026-08-08T06:33:56Z</dcterms:created>
  <dcterms:modified xsi:type="dcterms:W3CDTF">2026-08-13T06:35:01Z</dcterms:modified>
</cp:coreProperties>
</file>