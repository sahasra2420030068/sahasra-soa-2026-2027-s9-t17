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7" r:id="rId8"/>
    <p:sldId id="266" r:id="rId9"/>
    <p:sldId id="260" r:id="rId10"/>
    <p:sldId id="262" r:id="rId11"/>
    <p:sldId id="259" r:id="rId12"/>
    <p:sldId id="269"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10800000" flipV="1">
            <a:off x="2839616" y="3984171"/>
            <a:ext cx="6512767" cy="925366"/>
          </a:xfrm>
        </p:spPr>
        <p:txBody>
          <a:bodyPr wrap="square"/>
          <a:lstStyle/>
          <a:p>
            <a:pPr algn="ctr"/>
            <a:r>
              <a:rPr sz="2600" b="1"/>
              <a:t>Cybersecurity: Security Incident</a:t>
            </a:r>
          </a:p>
          <a:p>
            <a:pPr algn="ctr"/>
            <a:r>
              <a:rPr sz="2600" b="1"/>
              <a:t>Reporting System</a:t>
            </a:r>
          </a:p>
        </p:txBody>
      </p:sp>
      <p:sp>
        <p:nvSpPr>
          <p:cNvPr id="3" name="TextBox 2"/>
          <p:cNvSpPr txBox="1"/>
          <p:nvPr/>
        </p:nvSpPr>
        <p:spPr>
          <a:xfrm>
            <a:off x="3886200" y="960120"/>
            <a:ext cx="4389120" cy="731520"/>
          </a:xfrm>
          <a:prstGeom prst="rect">
            <a:avLst/>
          </a:prstGeom>
          <a:solidFill>
            <a:srgbClr val="DDEBF7"/>
          </a:solidFill>
        </p:spPr>
        <p:txBody>
          <a:bodyPr wrap="square" anchor="ctr">
            <a:spAutoFit/>
          </a:bodyPr>
          <a:lstStyle/>
          <a:p>
            <a:pPr algn="ctr"/>
            <a:r>
              <a:rPr sz="1800" b="1"/>
              <a:t>SOA Programming Microservices</a:t>
            </a:r>
          </a:p>
          <a:p>
            <a:pPr algn="ctr"/>
            <a:r>
              <a:rPr sz="1800" b="1"/>
              <a:t>(24ALT3101)</a:t>
            </a:r>
          </a:p>
        </p:txBody>
      </p:sp>
      <p:sp>
        <p:nvSpPr>
          <p:cNvPr id="4" name="TextBox 3"/>
          <p:cNvSpPr txBox="1"/>
          <p:nvPr/>
        </p:nvSpPr>
        <p:spPr>
          <a:xfrm>
            <a:off x="3794760" y="4892040"/>
            <a:ext cx="4572000" cy="914400"/>
          </a:xfrm>
          <a:prstGeom prst="rect">
            <a:avLst/>
          </a:prstGeom>
          <a:noFill/>
        </p:spPr>
        <p:txBody>
          <a:bodyPr wrap="square" anchor="ctr">
            <a:spAutoFit/>
          </a:bodyPr>
          <a:lstStyle/>
          <a:p>
            <a:pPr algn="ctr"/>
            <a:r>
              <a:rPr sz="1400" b="0"/>
              <a:t>Submitted by:</a:t>
            </a:r>
          </a:p>
          <a:p>
            <a:pPr algn="ctr"/>
            <a:r>
              <a:rPr sz="1400" b="0"/>
              <a:t>rakesh vardhan-2420090090</a:t>
            </a:r>
          </a:p>
          <a:p>
            <a:pPr algn="ctr"/>
            <a:r>
              <a:rPr sz="1400" b="0"/>
              <a:t>sahasra.k-2420030068</a:t>
            </a:r>
          </a:p>
          <a:p>
            <a:pPr algn="ctr"/>
            <a:r>
              <a:rPr sz="1400" b="0"/>
              <a:t>Group Number: 22    Section: 7</a:t>
            </a:r>
          </a:p>
          <a:p>
            <a:pPr>
              <a:defRPr sz="1400"/>
            </a:pPr>
            <a:r>
              <a:t>sahasra.M-2420030459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036313" y="1235656"/>
            <a:ext cx="4484160" cy="5325560"/>
          </a:xfrm>
          <a:prstGeom prst="rect">
            <a:avLst/>
          </a:prstGeom>
          <a:solidFill>
            <a:srgbClr val="DDEBF7"/>
          </a:solidFill>
        </p:spPr>
        <p:txBody>
          <a:bodyPr wrap="square" rtlCol="0">
            <a:spAutoFit/>
          </a:bodyPr>
          <a:lstStyle/>
          <a:p>
            <a:r>
              <a:rPr sz="2000" b="1"/>
              <a:t>Abstract</a:t>
            </a:r>
          </a:p>
          <a:p>
            <a:r>
              <a:rPr sz="2000" b="1"/>
              <a:t>Problem Statement</a:t>
            </a:r>
          </a:p>
          <a:p>
            <a:r>
              <a:rPr sz="2000" b="1"/>
              <a:t>Objectives</a:t>
            </a:r>
          </a:p>
          <a:p>
            <a:r>
              <a:rPr sz="2000" b="1"/>
              <a:t>Literature Survey</a:t>
            </a:r>
          </a:p>
          <a:p>
            <a:r>
              <a:rPr sz="2000" b="1"/>
              <a:t>Research Gap Identification</a:t>
            </a:r>
          </a:p>
          <a:p>
            <a:r>
              <a:rPr sz="2000" b="1"/>
              <a:t>Innovation</a:t>
            </a:r>
          </a:p>
          <a:p>
            <a:r>
              <a:rPr sz="2000" b="1"/>
              <a:t>Creativity</a:t>
            </a:r>
          </a:p>
          <a:p>
            <a:r>
              <a:rPr sz="2000" b="1"/>
              <a:t>Novelty</a:t>
            </a:r>
          </a:p>
          <a:p>
            <a:r>
              <a:rPr sz="2000" b="1"/>
              <a:t>Feasibility</a:t>
            </a:r>
          </a:p>
          <a:p>
            <a:r>
              <a:rPr sz="2000" b="1"/>
              <a:t>System Architecture</a:t>
            </a:r>
          </a:p>
          <a:p>
            <a:r>
              <a:rPr sz="2000" b="1"/>
              <a:t>Project Plan</a:t>
            </a:r>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solidFill>
            <a:srgbClr val="DDEBF7"/>
          </a:solidFill>
        </p:spPr>
        <p:txBody>
          <a:bodyPr wrap="square" rtlCol="0">
            <a:spAutoFit/>
          </a:bodyPr>
          <a:lstStyle/>
          <a:p>
            <a:pPr algn="ctr"/>
            <a:r>
              <a:rPr sz="2800" b="1">
                <a:latin typeface="Times New Roman"/>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solidFill>
            <a:srgbClr val="DDEBF7"/>
          </a:solidFill>
        </p:spPr>
        <p:txBody>
          <a:bodyPr wrap="square" rtlCol="0">
            <a:spAutoFit/>
          </a:bodyPr>
          <a:lstStyle/>
          <a:p>
            <a:r>
              <a:rPr b="1" sz="2200"/>
              <a:t>Abstract</a:t>
            </a:r>
          </a:p>
        </p:txBody>
      </p:sp>
      <p:sp>
        <p:nvSpPr>
          <p:cNvPr id="5" name="TextBox 4">
            <a:extLst>
              <a:ext uri="{FF2B5EF4-FFF2-40B4-BE49-F238E27FC236}">
                <a16:creationId xmlns:a16="http://schemas.microsoft.com/office/drawing/2014/main" id="{65078A58-6A66-8B6F-D0CB-F6E7C730B66C}"/>
              </a:ext>
            </a:extLst>
          </p:cNvPr>
          <p:cNvSpPr txBox="1"/>
          <p:nvPr/>
        </p:nvSpPr>
        <p:spPr>
          <a:xfrm>
            <a:off x="602183" y="1646853"/>
            <a:ext cx="11254153" cy="4278094"/>
          </a:xfrm>
          <a:prstGeom prst="rect">
            <a:avLst/>
          </a:prstGeom>
          <a:noFill/>
        </p:spPr>
        <p:txBody>
          <a:bodyPr wrap="square">
            <a:spAutoFit/>
          </a:bodyPr>
          <a:lstStyle/>
          <a:p>
            <a:r>
              <a:rPr sz="1400"/>
              <a:t>Security teams need a reliable way to receive, organize, investigate, and track cybersecurity incidents. Reports arriving through email, chat, or informal channels can be fragmented and difficult to audit.</a:t>
            </a:r>
          </a:p>
          <a:p/>
          <a:p>
            <a:r>
              <a:rPr sz="1400"/>
              <a:t>This project proposes a Security Incident Reporting System that provides a centralized platform for submitting incidents, recording evidence, assigning severity, tracking investigation status, and maintaining an auditable incident history.</a:t>
            </a:r>
          </a:p>
          <a:p/>
          <a:p>
            <a:r>
              <a:rPr sz="1400"/>
              <a:t>The system uses a secure web interface with REST APIs, JWT authentication, Spring Security, PostgreSQL for structured incident data, and Elasticsearch for fast incident search. The goal is to improve reporting consistency, response visibility, and incident management efficiency.</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1" y="188780"/>
            <a:ext cx="6871855" cy="584775"/>
          </a:xfrm>
          <a:prstGeom prst="rect">
            <a:avLst/>
          </a:prstGeom>
          <a:solidFill>
            <a:srgbClr val="DDEBF7"/>
          </a:solidFill>
        </p:spPr>
        <p:txBody>
          <a:bodyPr wrap="square" rtlCol="0">
            <a:spAutoFit/>
          </a:bodyPr>
          <a:lstStyle/>
          <a:p>
            <a:r>
              <a:rPr b="1" sz="2200"/>
              <a:t>Problem Statement</a:t>
            </a:r>
          </a:p>
        </p:txBody>
      </p:sp>
      <p:sp>
        <p:nvSpPr>
          <p:cNvPr id="5" name="TextBox 4">
            <a:extLst>
              <a:ext uri="{FF2B5EF4-FFF2-40B4-BE49-F238E27FC236}">
                <a16:creationId xmlns:a16="http://schemas.microsoft.com/office/drawing/2014/main" id="{E347E65F-A722-8232-E70C-F1EEB73CF4B1}"/>
              </a:ext>
            </a:extLst>
          </p:cNvPr>
          <p:cNvSpPr txBox="1"/>
          <p:nvPr/>
        </p:nvSpPr>
        <p:spPr>
          <a:xfrm>
            <a:off x="581606" y="2360646"/>
            <a:ext cx="11028784" cy="2585323"/>
          </a:xfrm>
          <a:prstGeom prst="rect">
            <a:avLst/>
          </a:prstGeom>
          <a:noFill/>
        </p:spPr>
        <p:txBody>
          <a:bodyPr wrap="square">
            <a:spAutoFit/>
          </a:bodyPr>
          <a:lstStyle/>
          <a:p>
            <a:r>
              <a:rPr sz="1400"/>
              <a:t>Organizations may receive security incidents through multiple channels, making it difficult to maintain a single source of truth. Manual reporting can lead to incomplete information, delayed triage, duplicate records, and poor visibility into incident status.</a:t>
            </a:r>
          </a:p>
          <a:p/>
          <a:p>
            <a:r>
              <a:rPr sz="1400"/>
              <a:t>A security incident reporting platform must also protect sensitive incident information, enforce role-based access, and maintain an audit trail. Basic ticketing systems may not provide security-focused workflows, structured incident fields, severity handling, and fast search across historical incidents.</a:t>
            </a:r>
          </a:p>
          <a:p/>
          <a:p>
            <a:r>
              <a:rPr sz="1400"/>
              <a:t>The proposed system addresses these challenges through a centralized, authenticated, searchable, and trackable incident management workflow.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415616" y="154134"/>
            <a:ext cx="7808635" cy="584775"/>
          </a:xfrm>
          <a:prstGeom prst="rect">
            <a:avLst/>
          </a:prstGeom>
          <a:solidFill>
            <a:srgbClr val="DDEBF7"/>
          </a:solidFill>
        </p:spPr>
        <p:txBody>
          <a:bodyPr wrap="square" rtlCol="0">
            <a:spAutoFit/>
          </a:bodyPr>
          <a:lstStyle/>
          <a:p>
            <a:r>
              <a:rPr b="1" sz="2200"/>
              <a:t>Objectives</a:t>
            </a:r>
          </a:p>
        </p:txBody>
      </p:sp>
      <p:sp>
        <p:nvSpPr>
          <p:cNvPr id="4" name="Rectangle 1">
            <a:extLst>
              <a:ext uri="{FF2B5EF4-FFF2-40B4-BE49-F238E27FC236}">
                <a16:creationId xmlns:a16="http://schemas.microsoft.com/office/drawing/2014/main" id="{DB9EB04F-FECD-A212-E715-01E5112D3C81}"/>
              </a:ext>
            </a:extLst>
          </p:cNvPr>
          <p:cNvSpPr>
            <a:spLocks noChangeArrowheads="1"/>
          </p:cNvSpPr>
          <p:nvPr/>
        </p:nvSpPr>
        <p:spPr bwMode="auto">
          <a:xfrm>
            <a:off x="447869" y="1403676"/>
            <a:ext cx="11744131"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defRPr sz="1550">
                <a:latin typeface="Times New Roman"/>
              </a:defRPr>
            </a:pPr>
            <a:r>
              <a:rPr b="1"/>
              <a:t>The main objectives of this project are structured into three key categories:</a:t>
            </a:r>
          </a:p>
          <a:p>
            <a:pPr/>
          </a:p>
          <a:p>
            <a:pPr/>
            <a:r>
              <a:rPr b="1"/>
              <a:t>1. ANALYZE</a:t>
            </a:r>
          </a:p>
          <a:p>
            <a:pPr/>
            <a:r>
              <a:rPr b="0"/>
              <a:t>• Analyze patient data, clinical notes, symptoms, and test results using natural language understanding.</a:t>
            </a:r>
          </a:p>
          <a:p>
            <a:pPr/>
            <a:r>
              <a:rPr b="0"/>
              <a:t>• Retrieve relevant clinical guidelines, evidence, and medical knowledge.</a:t>
            </a:r>
          </a:p>
          <a:p>
            <a:pPr/>
            <a:r>
              <a:rPr b="0"/>
              <a:t>• Identify key clinical factors, potential risks, missing information, and warning signals.</a:t>
            </a:r>
          </a:p>
          <a:p>
            <a:pPr/>
          </a:p>
          <a:p>
            <a:pPr/>
            <a:r>
              <a:rPr b="1"/>
              <a:t>2. BUILD</a:t>
            </a:r>
          </a:p>
          <a:p>
            <a:pPr/>
            <a:r>
              <a:rPr b="0"/>
              <a:t>• Build an LLM-based Clinical Decision Support System that combines patient context with retrieved knowledge.</a:t>
            </a:r>
          </a:p>
          <a:p>
            <a:pPr/>
            <a:r>
              <a:rPr b="0"/>
              <a:t>• Build modules for summarization, risk assessment, and evidence-aware recommendation generation.</a:t>
            </a:r>
          </a:p>
          <a:p>
            <a:pPr/>
            <a:r>
              <a:rPr b="0"/>
              <a:t>• Design a simple, responsive, and user-friendly clinical interface.</a:t>
            </a:r>
          </a:p>
          <a:p>
            <a:pPr/>
          </a:p>
          <a:p>
            <a:pPr/>
            <a:r>
              <a:rPr b="1"/>
              <a:t>3. INTEGRATE</a:t>
            </a:r>
          </a:p>
          <a:p>
            <a:pPr/>
            <a:r>
              <a:rPr b="0"/>
              <a:t>• Integrate Retrieval-Augmented Generation (RAG) to ground responses in trusted clinical knowledge.</a:t>
            </a:r>
          </a:p>
          <a:p>
            <a:pPr/>
            <a:r>
              <a:rPr b="0"/>
              <a:t>• Integrate explanations and supporting evidence for recommendations.</a:t>
            </a:r>
          </a:p>
          <a:p>
            <a:pPr/>
            <a:r>
              <a:rPr b="0"/>
              <a:t>• Integrate a clinician-in-the-loop workflow so final decisions remain with qualified professionals.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solidFill>
            <a:srgbClr val="DDEBF7"/>
          </a:solidFill>
        </p:spPr>
        <p:txBody>
          <a:bodyPr wrap="square" rtlCol="0">
            <a:spAutoFit/>
          </a:bodyPr>
          <a:lstStyle/>
          <a:p>
            <a:pPr algn="ctr"/>
            <a:r>
              <a:rPr sz="2800" b="1">
                <a:latin typeface="Times New Roman"/>
              </a:rPr>
              <a:t>Literature Survey</a:t>
            </a:r>
          </a:p>
        </p:txBody>
      </p:sp>
      <p:graphicFrame>
        <p:nvGraphicFramePr>
          <p:cNvPr id="6" name="Table 5">
            <a:extLst>
              <a:ext uri="{FF2B5EF4-FFF2-40B4-BE49-F238E27FC236}">
                <a16:creationId xmlns:a16="http://schemas.microsoft.com/office/drawing/2014/main" id="{9E5B9AAD-FC66-46ED-B0D8-5BFB371C7B6F}"/>
              </a:ext>
            </a:extLst>
          </p:cNvPr>
          <p:cNvGraphicFramePr>
            <a:graphicFrameLocks noGrp="1"/>
          </p:cNvGraphicFramePr>
          <p:nvPr>
            <p:extLst>
              <p:ext uri="{D42A27DB-BD31-4B8C-83A1-F6EECF244321}">
                <p14:modId xmlns:p14="http://schemas.microsoft.com/office/powerpoint/2010/main" val="2080299938"/>
              </p:ext>
            </p:extLst>
          </p:nvPr>
        </p:nvGraphicFramePr>
        <p:xfrm>
          <a:off x="1097900" y="1431299"/>
          <a:ext cx="9660296" cy="4966056"/>
        </p:xfrm>
        <a:graphic>
          <a:graphicData uri="http://schemas.openxmlformats.org/drawingml/2006/table">
            <a:tbl>
              <a:tblPr>
                <a:tableStyleId>{5C22544A-7EE6-4342-B048-85BDC9FD1C3A}</a:tableStyleId>
              </a:tblPr>
              <a:tblGrid>
                <a:gridCol w="2415074">
                  <a:extLst>
                    <a:ext uri="{9D8B030D-6E8A-4147-A177-3AD203B41FA5}">
                      <a16:colId xmlns:a16="http://schemas.microsoft.com/office/drawing/2014/main" val="3740014946"/>
                    </a:ext>
                  </a:extLst>
                </a:gridCol>
                <a:gridCol w="2415074">
                  <a:extLst>
                    <a:ext uri="{9D8B030D-6E8A-4147-A177-3AD203B41FA5}">
                      <a16:colId xmlns:a16="http://schemas.microsoft.com/office/drawing/2014/main" val="2527634954"/>
                    </a:ext>
                  </a:extLst>
                </a:gridCol>
                <a:gridCol w="2415074">
                  <a:extLst>
                    <a:ext uri="{9D8B030D-6E8A-4147-A177-3AD203B41FA5}">
                      <a16:colId xmlns:a16="http://schemas.microsoft.com/office/drawing/2014/main" val="3740456712"/>
                    </a:ext>
                  </a:extLst>
                </a:gridCol>
                <a:gridCol w="2415074">
                  <a:extLst>
                    <a:ext uri="{9D8B030D-6E8A-4147-A177-3AD203B41FA5}">
                      <a16:colId xmlns:a16="http://schemas.microsoft.com/office/drawing/2014/main" val="1994384583"/>
                    </a:ext>
                  </a:extLst>
                </a:gridCol>
              </a:tblGrid>
              <a:tr h="557018">
                <a:tc>
                  <a:txBody>
                    <a:bodyPr wrap="square"/>
                    <a:lstStyle/>
                    <a:p>
                      <a:r>
                        <a:rPr sz="900" b="1"/>
                        <a:t>Standard / Framework</a:t>
                      </a:r>
                    </a:p>
                  </a:txBody>
                  <a:tcPr marL="65929" marR="65929" marT="32965" marB="32965" anchor="ctr"/>
                </a:tc>
                <a:tc>
                  <a:txBody>
                    <a:bodyPr wrap="square"/>
                    <a:lstStyle/>
                    <a:p>
                      <a:r>
                        <a:rPr sz="900" b="1"/>
                        <a:t>Key Focus</a:t>
                      </a:r>
                    </a:p>
                  </a:txBody>
                  <a:tcPr marL="65929" marR="65929" marT="32965" marB="32965" anchor="ctr"/>
                </a:tc>
                <a:tc>
                  <a:txBody>
                    <a:bodyPr wrap="square"/>
                    <a:lstStyle/>
                    <a:p>
                      <a:r>
                        <a:rPr sz="900" b="1"/>
                        <a:t>Relevance</a:t>
                      </a:r>
                    </a:p>
                  </a:txBody>
                  <a:tcPr marL="65929" marR="65929" marT="32965" marB="32965" anchor="ctr"/>
                </a:tc>
                <a:tc>
                  <a:txBody>
                    <a:bodyPr wrap="square"/>
                    <a:lstStyle/>
                    <a:p>
                      <a:r>
                        <a:rPr sz="900" b="1"/>
                        <a:t>Limitation / Gap</a:t>
                      </a:r>
                    </a:p>
                  </a:txBody>
                  <a:tcPr marL="65929" marR="65929" marT="32965" marB="32965" anchor="ctr"/>
                </a:tc>
                <a:extLst>
                  <a:ext uri="{0D108BD9-81ED-4DB2-BD59-A6C34878D82A}">
                    <a16:rowId xmlns:a16="http://schemas.microsoft.com/office/drawing/2014/main" val="2742706448"/>
                  </a:ext>
                </a:extLst>
              </a:tr>
              <a:tr h="819957">
                <a:tc>
                  <a:txBody>
                    <a:bodyPr wrap="square"/>
                    <a:lstStyle/>
                    <a:p>
                      <a:r>
                        <a:rPr sz="800"/>
                        <a:t>NIST SP 800-61</a:t>
                      </a:r>
                    </a:p>
                  </a:txBody>
                  <a:tcPr marL="65929" marR="65929" marT="32965" marB="32965" anchor="ctr"/>
                </a:tc>
                <a:tc>
                  <a:txBody>
                    <a:bodyPr wrap="square"/>
                    <a:lstStyle/>
                    <a:p>
                      <a:r>
                        <a:rPr sz="800"/>
                        <a:t>Computer Security Incident Handling</a:t>
                      </a:r>
                    </a:p>
                  </a:txBody>
                  <a:tcPr marL="65929" marR="65929" marT="32965" marB="32965" anchor="ctr"/>
                </a:tc>
                <a:tc>
                  <a:txBody>
                    <a:bodyPr wrap="square"/>
                    <a:lstStyle/>
                    <a:p>
                      <a:r>
                        <a:rPr sz="800"/>
                        <a:t>Defines incident-response preparation, detection, analysis, containment, eradication and recovery.</a:t>
                      </a:r>
                    </a:p>
                  </a:txBody>
                  <a:tcPr marL="65929" marR="65929" marT="32965" marB="32965" anchor="ctr"/>
                </a:tc>
                <a:tc>
                  <a:txBody>
                    <a:bodyPr wrap="square"/>
                    <a:lstStyle/>
                    <a:p>
                      <a:r>
                        <a:rPr sz="800"/>
                        <a:t>Guidance framework; organizations still need an implementation platform.</a:t>
                      </a:r>
                    </a:p>
                  </a:txBody>
                  <a:tcPr marL="65929" marR="65929" marT="32965" marB="32965" anchor="ctr"/>
                </a:tc>
                <a:extLst>
                  <a:ext uri="{0D108BD9-81ED-4DB2-BD59-A6C34878D82A}">
                    <a16:rowId xmlns:a16="http://schemas.microsoft.com/office/drawing/2014/main" val="2377232246"/>
                  </a:ext>
                </a:extLst>
              </a:tr>
              <a:tr h="819957">
                <a:tc>
                  <a:txBody>
                    <a:bodyPr wrap="square"/>
                    <a:lstStyle/>
                    <a:p>
                      <a:r>
                        <a:rPr sz="800"/>
                        <a:t>ISO/IEC 27035</a:t>
                      </a:r>
                    </a:p>
                  </a:txBody>
                  <a:tcPr marL="65929" marR="65929" marT="32965" marB="32965" anchor="ctr"/>
                </a:tc>
                <a:tc>
                  <a:txBody>
                    <a:bodyPr wrap="square"/>
                    <a:lstStyle/>
                    <a:p>
                      <a:r>
                        <a:rPr sz="800"/>
                        <a:t>Information security incident management</a:t>
                      </a:r>
                    </a:p>
                  </a:txBody>
                  <a:tcPr marL="65929" marR="65929" marT="32965" marB="32965" anchor="ctr"/>
                </a:tc>
                <a:tc>
                  <a:txBody>
                    <a:bodyPr wrap="square"/>
                    <a:lstStyle/>
                    <a:p>
                      <a:r>
                        <a:rPr sz="800"/>
                        <a:t>Provides principles and process guidance for managing information security incidents.</a:t>
                      </a:r>
                    </a:p>
                  </a:txBody>
                  <a:tcPr marL="65929" marR="65929" marT="32965" marB="32965" anchor="ctr"/>
                </a:tc>
                <a:tc>
                  <a:txBody>
                    <a:bodyPr wrap="square"/>
                    <a:lstStyle/>
                    <a:p>
                      <a:r>
                        <a:rPr sz="800"/>
                        <a:t>Does not by itself provide a ready-to-use reporting application.</a:t>
                      </a:r>
                    </a:p>
                  </a:txBody>
                  <a:tcPr marL="65929" marR="65929" marT="32965" marB="32965" anchor="ctr"/>
                </a:tc>
                <a:extLst>
                  <a:ext uri="{0D108BD9-81ED-4DB2-BD59-A6C34878D82A}">
                    <a16:rowId xmlns:a16="http://schemas.microsoft.com/office/drawing/2014/main" val="201220958"/>
                  </a:ext>
                </a:extLst>
              </a:tr>
              <a:tr h="819957">
                <a:tc>
                  <a:txBody>
                    <a:bodyPr wrap="square"/>
                    <a:lstStyle/>
                    <a:p>
                      <a:r>
                        <a:rPr sz="800"/>
                        <a:t>NIST CSF 2.0</a:t>
                      </a:r>
                    </a:p>
                  </a:txBody>
                  <a:tcPr marL="65929" marR="65929" marT="32965" marB="32965" anchor="ctr"/>
                </a:tc>
                <a:tc>
                  <a:txBody>
                    <a:bodyPr wrap="square"/>
                    <a:lstStyle/>
                    <a:p>
                      <a:r>
                        <a:rPr sz="800"/>
                        <a:t>Cybersecurity risk management</a:t>
                      </a:r>
                    </a:p>
                  </a:txBody>
                  <a:tcPr marL="65929" marR="65929" marT="32965" marB="32965" anchor="ctr"/>
                </a:tc>
                <a:tc>
                  <a:txBody>
                    <a:bodyPr wrap="square"/>
                    <a:lstStyle/>
                    <a:p>
                      <a:r>
                        <a:rPr sz="800"/>
                        <a:t>Connects cybersecurity activities with Govern, Identify, Protect, Detect, Respond and Recover.</a:t>
                      </a:r>
                    </a:p>
                  </a:txBody>
                  <a:tcPr marL="65929" marR="65929" marT="32965" marB="32965" anchor="ctr"/>
                </a:tc>
                <a:tc>
                  <a:txBody>
                    <a:bodyPr wrap="square"/>
                    <a:lstStyle/>
                    <a:p>
                      <a:r>
                        <a:rPr sz="800"/>
                        <a:t>High-level framework; detailed incident workflow must be implemented separately.</a:t>
                      </a:r>
                    </a:p>
                  </a:txBody>
                  <a:tcPr marL="65929" marR="65929" marT="32965" marB="32965" anchor="ctr"/>
                </a:tc>
                <a:extLst>
                  <a:ext uri="{0D108BD9-81ED-4DB2-BD59-A6C34878D82A}">
                    <a16:rowId xmlns:a16="http://schemas.microsoft.com/office/drawing/2014/main" val="1815655940"/>
                  </a:ext>
                </a:extLst>
              </a:tr>
              <a:tr h="819957">
                <a:tc>
                  <a:txBody>
                    <a:bodyPr wrap="square"/>
                    <a:lstStyle/>
                    <a:p>
                      <a:r>
                        <a:rPr sz="800"/>
                        <a:t>OWASP ASVS</a:t>
                      </a:r>
                    </a:p>
                  </a:txBody>
                  <a:tcPr marL="65929" marR="65929" marT="32965" marB="32965" anchor="ctr"/>
                </a:tc>
                <a:tc>
                  <a:txBody>
                    <a:bodyPr wrap="square"/>
                    <a:lstStyle/>
                    <a:p>
                      <a:r>
                        <a:rPr sz="800"/>
                        <a:t>Web application security requirements</a:t>
                      </a:r>
                    </a:p>
                  </a:txBody>
                  <a:tcPr marL="65929" marR="65929" marT="32965" marB="32965" anchor="ctr"/>
                </a:tc>
                <a:tc>
                  <a:txBody>
                    <a:bodyPr wrap="square"/>
                    <a:lstStyle/>
                    <a:p>
                      <a:r>
                        <a:rPr sz="800"/>
                        <a:t>Supports secure authentication, access control, validation and application security practices.</a:t>
                      </a:r>
                    </a:p>
                  </a:txBody>
                  <a:tcPr marL="65929" marR="65929" marT="32965" marB="32965" anchor="ctr"/>
                </a:tc>
                <a:tc>
                  <a:txBody>
                    <a:bodyPr wrap="square"/>
                    <a:lstStyle/>
                    <a:p>
                      <a:r>
                        <a:rPr sz="800"/>
                        <a:t>Focused on application security rather than end-to-end incident management.</a:t>
                      </a:r>
                    </a:p>
                  </a:txBody>
                  <a:tcPr marL="65929" marR="65929" marT="32965" marB="32965" anchor="ctr"/>
                </a:tc>
                <a:extLst>
                  <a:ext uri="{0D108BD9-81ED-4DB2-BD59-A6C34878D82A}">
                    <a16:rowId xmlns:a16="http://schemas.microsoft.com/office/drawing/2014/main" val="3042119653"/>
                  </a:ext>
                </a:extLst>
              </a:tr>
              <a:tr h="557018">
                <a:tc>
                  <a:txBody>
                    <a:bodyPr wrap="square"/>
                    <a:lstStyle/>
                    <a:p>
                      <a:r>
                        <a:rPr sz="800"/>
                        <a:t>CISA Incident Response Guidance</a:t>
                      </a:r>
                    </a:p>
                  </a:txBody>
                  <a:tcPr marL="65929" marR="65929" marT="32965" marB="32965" anchor="ctr"/>
                </a:tc>
                <a:tc>
                  <a:txBody>
                    <a:bodyPr wrap="square"/>
                    <a:lstStyle/>
                    <a:p>
                      <a:r>
                        <a:rPr sz="800"/>
                        <a:t>Incident response practices</a:t>
                      </a:r>
                    </a:p>
                  </a:txBody>
                  <a:tcPr marL="65929" marR="65929" marT="32965" marB="32965" anchor="ctr"/>
                </a:tc>
                <a:tc>
                  <a:txBody>
                    <a:bodyPr wrap="square"/>
                    <a:lstStyle/>
                    <a:p>
                      <a:r>
                        <a:rPr sz="800"/>
                        <a:t>Provides practical guidance for detecting, responding to, and recovering from cyber incidents.</a:t>
                      </a:r>
                    </a:p>
                  </a:txBody>
                  <a:tcPr marL="65929" marR="65929" marT="32965" marB="32965" anchor="ctr"/>
                </a:tc>
                <a:tc>
                  <a:txBody>
                    <a:bodyPr wrap="square"/>
                    <a:lstStyle/>
                    <a:p>
                      <a:r>
                        <a:rPr sz="800"/>
                        <a:t>Organizations still require centralized reporting, tracking and searchable records.</a:t>
                      </a:r>
                    </a:p>
                  </a:txBody>
                  <a:tcPr marL="65929" marR="65929" marT="32965" marB="32965" anchor="ctr"/>
                </a:tc>
                <a:extLst>
                  <a:ext uri="{0D108BD9-81ED-4DB2-BD59-A6C34878D82A}">
                    <a16:rowId xmlns:a16="http://schemas.microsoft.com/office/drawing/2014/main" val="3847429240"/>
                  </a:ext>
                </a:extLst>
              </a:tr>
            </a:tbl>
          </a:graphicData>
        </a:graphic>
      </p:graphicFrame>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0E8EB32-DFB9-70B5-2C1A-00074CFA6681}"/>
              </a:ext>
            </a:extLst>
          </p:cNvPr>
          <p:cNvSpPr>
            <a:spLocks noChangeArrowheads="1"/>
          </p:cNvSpPr>
          <p:nvPr/>
        </p:nvSpPr>
        <p:spPr bwMode="auto">
          <a:xfrm>
            <a:off x="662472" y="3017534"/>
            <a:ext cx="103633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7" name="TextBox 6">
            <a:extLst>
              <a:ext uri="{FF2B5EF4-FFF2-40B4-BE49-F238E27FC236}">
                <a16:creationId xmlns:a16="http://schemas.microsoft.com/office/drawing/2014/main" id="{C5EB7DA5-C0A9-6F74-966A-208A7A1C1A93}"/>
              </a:ext>
            </a:extLst>
          </p:cNvPr>
          <p:cNvSpPr txBox="1"/>
          <p:nvPr/>
        </p:nvSpPr>
        <p:spPr>
          <a:xfrm>
            <a:off x="541173" y="1056907"/>
            <a:ext cx="6634067" cy="2339102"/>
          </a:xfrm>
          <a:prstGeom prst="rect">
            <a:avLst/>
          </a:prstGeom>
          <a:solidFill>
            <a:srgbClr val="DDEBF7"/>
          </a:solidFill>
        </p:spPr>
        <p:txBody>
          <a:bodyPr wrap="square">
            <a:spAutoFit/>
          </a:bodyPr>
          <a:lstStyle/>
          <a:p>
            <a:r>
              <a:rPr sz="1400" b="1"/>
              <a:t>Research Gap Identification</a:t>
            </a:r>
          </a:p>
          <a:p/>
          <a:p>
            <a:r>
              <a:rPr sz="1400" b="1"/>
              <a:t>• Many incident reporting solutions behave mainly as generic ticketing systems.</a:t>
            </a:r>
          </a:p>
          <a:p>
            <a:r>
              <a:rPr sz="1400" b="1"/>
              <a:t>• Security-specific fields such as severity, affected assets, evidence, and incident category are not always structured.</a:t>
            </a:r>
          </a:p>
          <a:p>
            <a:r>
              <a:rPr sz="1400" b="1"/>
              <a:t>• Incident information may be distributed across email, chat, spreadsheets, and separate tools.</a:t>
            </a:r>
          </a:p>
          <a:p>
            <a:r>
              <a:rPr sz="1400" b="1"/>
              <a:t>• Historical incident search and correlation can be limited when data is not indexed for fast retrieval.</a:t>
            </a:r>
          </a:p>
          <a:p>
            <a:r>
              <a:rPr sz="1400" b="1"/>
              <a:t>• Strong authentication, role-based access, and auditability are essential for handling sensitive security reports.</a:t>
            </a:r>
          </a:p>
        </p:txBody>
      </p:sp>
      <p:sp>
        <p:nvSpPr>
          <p:cNvPr id="9" name="TextBox 8">
            <a:extLst>
              <a:ext uri="{FF2B5EF4-FFF2-40B4-BE49-F238E27FC236}">
                <a16:creationId xmlns:a16="http://schemas.microsoft.com/office/drawing/2014/main" id="{7644C301-2406-4BDF-09A1-8EA3C1CEC91B}"/>
              </a:ext>
            </a:extLst>
          </p:cNvPr>
          <p:cNvSpPr txBox="1"/>
          <p:nvPr/>
        </p:nvSpPr>
        <p:spPr>
          <a:xfrm>
            <a:off x="601821" y="3776484"/>
            <a:ext cx="6512769" cy="2585323"/>
          </a:xfrm>
          <a:prstGeom prst="rect">
            <a:avLst/>
          </a:prstGeom>
          <a:solidFill>
            <a:srgbClr val="DDEBF7"/>
          </a:solidFill>
        </p:spPr>
        <p:txBody>
          <a:bodyPr wrap="square">
            <a:spAutoFit/>
          </a:bodyPr>
          <a:lstStyle/>
          <a:p>
            <a:r>
              <a:rPr sz="1400" b="1"/>
              <a:t>Innovation</a:t>
            </a:r>
          </a:p>
          <a:p/>
          <a:p>
            <a:r>
              <a:rPr sz="1400" b="1"/>
              <a:t>The proposed system introduces:</a:t>
            </a:r>
          </a:p>
          <a:p/>
          <a:p>
            <a:r>
              <a:rPr sz="1400" b="1"/>
              <a:t>• Centralized cybersecurity incident reporting and tracking.</a:t>
            </a:r>
          </a:p>
          <a:p>
            <a:r>
              <a:rPr sz="1400" b="1"/>
              <a:t>• Structured incident classification, severity and priority handling.</a:t>
            </a:r>
          </a:p>
          <a:p>
            <a:r>
              <a:rPr sz="1400" b="1"/>
              <a:t>• Secure authentication with JWT and Spring Security.</a:t>
            </a:r>
          </a:p>
          <a:p>
            <a:r>
              <a:rPr sz="1400" b="1"/>
              <a:t>• Elasticsearch-powered search across historical incidents.</a:t>
            </a:r>
          </a:p>
          <a:p>
            <a:r>
              <a:rPr sz="1400" b="1"/>
              <a:t>• Role-based access for different security-system users.</a:t>
            </a:r>
          </a:p>
          <a:p>
            <a:r>
              <a:rPr sz="1400" b="1"/>
              <a:t>• Dashboard-based visibility into open, high-priority and resolved incidents.</a:t>
            </a:r>
          </a:p>
          <a:p>
            <a:r>
              <a:rPr sz="1400" b="1"/>
              <a:t>• A complete incident lifecycle from report submission to closure.</a:t>
            </a:r>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FF3910A-D3E5-22FF-9AC2-A77556426F36}"/>
              </a:ext>
            </a:extLst>
          </p:cNvPr>
          <p:cNvSpPr txBox="1"/>
          <p:nvPr/>
        </p:nvSpPr>
        <p:spPr>
          <a:xfrm>
            <a:off x="641480" y="1450253"/>
            <a:ext cx="7177573" cy="3539430"/>
          </a:xfrm>
          <a:prstGeom prst="rect">
            <a:avLst/>
          </a:prstGeom>
          <a:noFill/>
        </p:spPr>
        <p:txBody>
          <a:bodyPr wrap="square">
            <a:spAutoFit/>
          </a:bodyPr>
          <a:lstStyle/>
          <a:p>
            <a:r>
              <a:rPr sz="1400"/>
              <a:t>• Many incident reporting solutions behave mainly as generic ticketing systems.</a:t>
            </a:r>
          </a:p>
          <a:p>
            <a:r>
              <a:rPr sz="1400"/>
              <a:t>• Security-specific fields such as severity, affected assets, evidence, and incident category are not always structured.</a:t>
            </a:r>
          </a:p>
          <a:p>
            <a:r>
              <a:rPr sz="1400"/>
              <a:t>• Incident information may be distributed across email, chat, spreadsheets, and separate tools.</a:t>
            </a:r>
          </a:p>
          <a:p>
            <a:r>
              <a:rPr sz="1400"/>
              <a:t>• Historical incident search and correlation can be limited when data is not indexed for fast retrieval.</a:t>
            </a:r>
          </a:p>
          <a:p>
            <a:r>
              <a:rPr sz="1400"/>
              <a:t>• Strong authentication, role-based access, and auditability are essential for handling sensitive security reports.</a:t>
            </a:r>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F00390-288F-1C85-A34B-30E7BA4BC94D}"/>
              </a:ext>
            </a:extLst>
          </p:cNvPr>
          <p:cNvSpPr txBox="1"/>
          <p:nvPr/>
        </p:nvSpPr>
        <p:spPr>
          <a:xfrm>
            <a:off x="417545" y="1290172"/>
            <a:ext cx="7093598" cy="3741409"/>
          </a:xfrm>
          <a:prstGeom prst="rect">
            <a:avLst/>
          </a:prstGeom>
          <a:noFill/>
        </p:spPr>
        <p:txBody>
          <a:bodyPr wrap="square">
            <a:spAutoFit/>
          </a:bodyPr>
          <a:lstStyle/>
          <a:p>
            <a:r>
              <a:rPr sz="1400"/>
              <a:t>The project combines secure incident reporting with a practical security-operations workflow.</a:t>
            </a:r>
          </a:p>
          <a:p/>
          <a:p>
            <a:r>
              <a:rPr sz="1400"/>
              <a:t>Key creative features include:</a:t>
            </a:r>
          </a:p>
          <a:p>
            <a:r>
              <a:rPr sz="1400"/>
              <a:t>• Guided incident submission with structured security categories.</a:t>
            </a:r>
          </a:p>
          <a:p>
            <a:r>
              <a:rPr sz="1400"/>
              <a:t>• Severity and priority indicators for faster triage.</a:t>
            </a:r>
          </a:p>
          <a:p>
            <a:r>
              <a:rPr sz="1400"/>
              <a:t>• Incident status tracking from reporting to closure.</a:t>
            </a:r>
          </a:p>
          <a:p>
            <a:r>
              <a:rPr sz="1400"/>
              <a:t>• Searchable incident history using Elasticsearch.</a:t>
            </a:r>
          </a:p>
          <a:p>
            <a:r>
              <a:rPr sz="1400"/>
              <a:t>• Role-based access for reporters, analysts, and administrators.</a:t>
            </a:r>
          </a:p>
          <a:p>
            <a:r>
              <a:rPr sz="1400"/>
              <a:t>• Centralized dashboard for open, resolved, and high-priority incidents.</a:t>
            </a:r>
          </a:p>
          <a:p>
            <a:r>
              <a:rPr sz="1400"/>
              <a:t>• Incident timeline for recording updates and investigation actions.</a:t>
            </a:r>
          </a:p>
          <a:p>
            <a:r>
              <a:rPr sz="1400"/>
              <a:t>• Clear separation between reporting, investigation, and administration.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010E39-C34F-2D90-E757-2B5373BF5544}"/>
              </a:ext>
            </a:extLst>
          </p:cNvPr>
          <p:cNvSpPr txBox="1"/>
          <p:nvPr/>
        </p:nvSpPr>
        <p:spPr>
          <a:xfrm>
            <a:off x="856083" y="977310"/>
            <a:ext cx="6664390" cy="5218736"/>
          </a:xfrm>
          <a:prstGeom prst="rect">
            <a:avLst/>
          </a:prstGeom>
          <a:noFill/>
        </p:spPr>
        <p:txBody>
          <a:bodyPr wrap="square">
            <a:spAutoFit/>
          </a:bodyPr>
          <a:lstStyle/>
          <a:p>
            <a:r>
              <a:rPr sz="1400"/>
              <a:t>The uniqueness of this project lies in integrating:</a:t>
            </a:r>
          </a:p>
          <a:p/>
          <a:p>
            <a:r>
              <a:rPr sz="1400"/>
              <a:t>• A dedicated cybersecurity incident reporting workflow rather than a generic feedback form.</a:t>
            </a:r>
          </a:p>
          <a:p>
            <a:r>
              <a:rPr sz="1400"/>
              <a:t>• Structured incident data for consistent classification and triage.</a:t>
            </a:r>
          </a:p>
          <a:p>
            <a:r>
              <a:rPr sz="1400"/>
              <a:t>• JWT authentication and Spring Security for protected access.</a:t>
            </a:r>
          </a:p>
          <a:p>
            <a:r>
              <a:rPr sz="1400"/>
              <a:t>• PostgreSQL for reliable transactional storage.</a:t>
            </a:r>
          </a:p>
          <a:p>
            <a:r>
              <a:rPr sz="1400"/>
              <a:t>• Elasticsearch for fast full-text search across incident records.</a:t>
            </a:r>
          </a:p>
          <a:p>
            <a:r>
              <a:rPr sz="1400"/>
              <a:t>• Role-based workflows and incident status tracking.</a:t>
            </a:r>
          </a:p>
          <a:p>
            <a:r>
              <a:rPr sz="1400"/>
              <a:t>• Docker-based deployment for repeatable environments.</a:t>
            </a:r>
          </a:p>
          <a:p>
            <a:r>
              <a:rPr sz="1400"/>
              <a:t>• A unified web interface for reporting, investigation, tracking, and incident visibility.</a:t>
            </a:r>
          </a:p>
          <a:p/>
          <a:p>
            <a:r>
              <a:rPr sz="1400"/>
              <a:t>This combination aims to improve consistency, traceability, searchability, and security in incident management.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508311" y="202918"/>
            <a:ext cx="4719782" cy="517236"/>
          </a:xfrm>
          <a:prstGeom prst="roundRect">
            <a:avLst/>
          </a:prstGeom>
          <a:solidFill>
            <a:srgbClr val="DDEBF7"/>
          </a:solidFill>
        </p:spPr>
        <p:style>
          <a:lnRef idx="2">
            <a:schemeClr val="accent1">
              <a:shade val="15000"/>
            </a:schemeClr>
          </a:lnRef>
          <a:fillRef idx="1">
            <a:schemeClr val="accent1"/>
          </a:fillRef>
          <a:effectRef idx="0">
            <a:schemeClr val="accent1"/>
          </a:effectRef>
          <a:fontRef idx="minor">
            <a:schemeClr val="lt1"/>
          </a:fontRef>
        </p:style>
        <p:txBody>
          <a:bodyPr rtlCol="0" anchor="ctr" wrap="square"/>
          <a:lstStyle/>
          <a:p>
            <a:r>
              <a:rPr sz="1700" b="1"/>
              <a:t>SYSTEM ARCHITECTURE</a:t>
            </a:r>
          </a:p>
        </p:txBody>
      </p:sp>
      <p:sp>
        <p:nvSpPr>
          <p:cNvPr id="3" name="TextBox 2"/>
          <p:cNvSpPr txBox="1"/>
          <p:nvPr/>
        </p:nvSpPr>
        <p:spPr>
          <a:xfrm>
            <a:off x="3994349" y="1453598"/>
            <a:ext cx="6871855" cy="584775"/>
          </a:xfrm>
          <a:prstGeom prst="rect">
            <a:avLst/>
          </a:prstGeom>
          <a:noFill/>
        </p:spPr>
        <p:txBody>
          <a:bodyPr wrap="square" rtlCol="0">
            <a:spAutoFit/>
          </a:bodyPr>
          <a:lstStyle/>
          <a:p>
            <a:r>
              <a:t>System Architecture / Incident Workflow</a:t>
            </a:r>
          </a:p>
        </p:txBody>
      </p:sp>
      <p:sp>
        <p:nvSpPr>
          <p:cNvPr id="4" name="Rounded Rectangle 3"/>
          <p:cNvSpPr/>
          <p:nvPr/>
        </p:nvSpPr>
        <p:spPr>
          <a:xfrm>
            <a:off x="3794760" y="1325880"/>
            <a:ext cx="4617720" cy="438912"/>
          </a:xfrm>
          <a:prstGeom prst="roundRect">
            <a:avLst/>
          </a:prstGeom>
          <a:solidFill>
            <a:srgbClr val="DDEBF7"/>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91919"/>
                </a:solidFill>
              </a:rPr>
              <a:t>START</a:t>
            </a:r>
          </a:p>
          <a:p>
            <a:pPr algn="ctr"/>
            <a:r>
              <a:rPr sz="950" b="1">
                <a:solidFill>
                  <a:srgbClr val="191919"/>
                </a:solidFill>
              </a:rPr>
              <a:t>Initialize secure incident reporting session</a:t>
            </a:r>
          </a:p>
        </p:txBody>
      </p:sp>
      <p:sp>
        <p:nvSpPr>
          <p:cNvPr id="5" name="Down Arrow 4"/>
          <p:cNvSpPr/>
          <p:nvPr/>
        </p:nvSpPr>
        <p:spPr>
          <a:xfrm>
            <a:off x="6030468" y="1764792"/>
            <a:ext cx="146304" cy="73152"/>
          </a:xfrm>
          <a:prstGeom prst="downArrow">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794760" y="1837944"/>
            <a:ext cx="4617720" cy="438912"/>
          </a:xfrm>
          <a:prstGeom prst="roundRect">
            <a:avLst/>
          </a:prstGeom>
          <a:solidFill>
            <a:srgbClr val="EBF3FA"/>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91919"/>
                </a:solidFill>
              </a:rPr>
              <a:t>User Login</a:t>
            </a:r>
          </a:p>
          <a:p>
            <a:pPr algn="ctr"/>
            <a:r>
              <a:rPr sz="750">
                <a:solidFill>
                  <a:srgbClr val="191919"/>
                </a:solidFill>
              </a:rPr>
              <a:t>Authenticate with JWT + Spring Security</a:t>
            </a:r>
          </a:p>
        </p:txBody>
      </p:sp>
      <p:sp>
        <p:nvSpPr>
          <p:cNvPr id="7" name="Down Arrow 6"/>
          <p:cNvSpPr/>
          <p:nvPr/>
        </p:nvSpPr>
        <p:spPr>
          <a:xfrm>
            <a:off x="6030468" y="2276856"/>
            <a:ext cx="146304" cy="73152"/>
          </a:xfrm>
          <a:prstGeom prst="downArrow">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794760" y="2350008"/>
            <a:ext cx="4617720" cy="438912"/>
          </a:xfrm>
          <a:prstGeom prst="roundRect">
            <a:avLst/>
          </a:prstGeom>
          <a:solidFill>
            <a:srgbClr val="E8F7EB"/>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91919"/>
                </a:solidFill>
              </a:rPr>
              <a:t>Report Incident</a:t>
            </a:r>
          </a:p>
          <a:p>
            <a:pPr algn="ctr"/>
            <a:r>
              <a:rPr sz="750">
                <a:solidFill>
                  <a:srgbClr val="191919"/>
                </a:solidFill>
              </a:rPr>
              <a:t>Enter category, description, severity and affected asset</a:t>
            </a:r>
          </a:p>
        </p:txBody>
      </p:sp>
      <p:sp>
        <p:nvSpPr>
          <p:cNvPr id="9" name="Down Arrow 8"/>
          <p:cNvSpPr/>
          <p:nvPr/>
        </p:nvSpPr>
        <p:spPr>
          <a:xfrm>
            <a:off x="6030468" y="2788920"/>
            <a:ext cx="146304" cy="73152"/>
          </a:xfrm>
          <a:prstGeom prst="downArrow">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794760" y="2862072"/>
            <a:ext cx="4617720" cy="438912"/>
          </a:xfrm>
          <a:prstGeom prst="roundRect">
            <a:avLst/>
          </a:prstGeom>
          <a:solidFill>
            <a:srgbClr val="EBF3FA"/>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91919"/>
                </a:solidFill>
              </a:rPr>
              <a:t>REST API</a:t>
            </a:r>
          </a:p>
          <a:p>
            <a:pPr algn="ctr"/>
            <a:r>
              <a:rPr sz="750">
                <a:solidFill>
                  <a:srgbClr val="191919"/>
                </a:solidFill>
              </a:rPr>
              <a:t>Validate request and process incident data</a:t>
            </a:r>
          </a:p>
        </p:txBody>
      </p:sp>
      <p:sp>
        <p:nvSpPr>
          <p:cNvPr id="11" name="Down Arrow 10"/>
          <p:cNvSpPr/>
          <p:nvPr/>
        </p:nvSpPr>
        <p:spPr>
          <a:xfrm>
            <a:off x="6030468" y="3300984"/>
            <a:ext cx="146304" cy="73152"/>
          </a:xfrm>
          <a:prstGeom prst="downArrow">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794760" y="3374136"/>
            <a:ext cx="4617720" cy="438912"/>
          </a:xfrm>
          <a:prstGeom prst="roundRect">
            <a:avLst/>
          </a:prstGeom>
          <a:solidFill>
            <a:srgbClr val="E8F7EB"/>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91919"/>
                </a:solidFill>
              </a:rPr>
              <a:t>PostgreSQL</a:t>
            </a:r>
          </a:p>
          <a:p>
            <a:pPr algn="ctr"/>
            <a:r>
              <a:rPr sz="750">
                <a:solidFill>
                  <a:srgbClr val="191919"/>
                </a:solidFill>
              </a:rPr>
              <a:t>Store structured incident record and status</a:t>
            </a:r>
          </a:p>
        </p:txBody>
      </p:sp>
      <p:sp>
        <p:nvSpPr>
          <p:cNvPr id="13" name="Down Arrow 12"/>
          <p:cNvSpPr/>
          <p:nvPr/>
        </p:nvSpPr>
        <p:spPr>
          <a:xfrm>
            <a:off x="6030468" y="3813048"/>
            <a:ext cx="146304" cy="73152"/>
          </a:xfrm>
          <a:prstGeom prst="downArrow">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794760" y="3886200"/>
            <a:ext cx="4617720" cy="438912"/>
          </a:xfrm>
          <a:prstGeom prst="roundRect">
            <a:avLst/>
          </a:prstGeom>
          <a:solidFill>
            <a:srgbClr val="EBF3FA"/>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91919"/>
                </a:solidFill>
              </a:rPr>
              <a:t>Elasticsearch</a:t>
            </a:r>
          </a:p>
          <a:p>
            <a:pPr algn="ctr"/>
            <a:r>
              <a:rPr sz="750">
                <a:solidFill>
                  <a:srgbClr val="191919"/>
                </a:solidFill>
              </a:rPr>
              <a:t>Index incident for fast search and filtering</a:t>
            </a:r>
          </a:p>
        </p:txBody>
      </p:sp>
      <p:sp>
        <p:nvSpPr>
          <p:cNvPr id="15" name="Down Arrow 14"/>
          <p:cNvSpPr/>
          <p:nvPr/>
        </p:nvSpPr>
        <p:spPr>
          <a:xfrm>
            <a:off x="6030468" y="4325112"/>
            <a:ext cx="146304" cy="73152"/>
          </a:xfrm>
          <a:prstGeom prst="downArrow">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794760" y="4398264"/>
            <a:ext cx="4617720" cy="438912"/>
          </a:xfrm>
          <a:prstGeom prst="roundRect">
            <a:avLst/>
          </a:prstGeom>
          <a:solidFill>
            <a:srgbClr val="E8F7EB"/>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91919"/>
                </a:solidFill>
              </a:rPr>
              <a:t>Security Team</a:t>
            </a:r>
          </a:p>
          <a:p>
            <a:pPr algn="ctr"/>
            <a:r>
              <a:rPr sz="750">
                <a:solidFill>
                  <a:srgbClr val="191919"/>
                </a:solidFill>
              </a:rPr>
              <a:t>Review, assign, investigate and update status</a:t>
            </a:r>
          </a:p>
        </p:txBody>
      </p:sp>
      <p:sp>
        <p:nvSpPr>
          <p:cNvPr id="17" name="Down Arrow 16"/>
          <p:cNvSpPr/>
          <p:nvPr/>
        </p:nvSpPr>
        <p:spPr>
          <a:xfrm>
            <a:off x="6030468" y="4837176"/>
            <a:ext cx="146304" cy="73152"/>
          </a:xfrm>
          <a:prstGeom prst="downArrow">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794760" y="4910328"/>
            <a:ext cx="4617720" cy="438912"/>
          </a:xfrm>
          <a:prstGeom prst="roundRect">
            <a:avLst/>
          </a:prstGeom>
          <a:solidFill>
            <a:srgbClr val="EBF3FA"/>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91919"/>
                </a:solidFill>
              </a:rPr>
              <a:t>Dashboard</a:t>
            </a:r>
          </a:p>
          <a:p>
            <a:pPr algn="ctr"/>
            <a:r>
              <a:rPr sz="750">
                <a:solidFill>
                  <a:srgbClr val="191919"/>
                </a:solidFill>
              </a:rPr>
              <a:t>Track open, high-priority and resolved incidents</a:t>
            </a:r>
          </a:p>
        </p:txBody>
      </p:sp>
      <p:sp>
        <p:nvSpPr>
          <p:cNvPr id="19" name="Down Arrow 18"/>
          <p:cNvSpPr/>
          <p:nvPr/>
        </p:nvSpPr>
        <p:spPr>
          <a:xfrm>
            <a:off x="6030468" y="5349240"/>
            <a:ext cx="146304" cy="73152"/>
          </a:xfrm>
          <a:prstGeom prst="downArrow">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794760" y="5422392"/>
            <a:ext cx="4617720" cy="438912"/>
          </a:xfrm>
          <a:prstGeom prst="roundRect">
            <a:avLst/>
          </a:prstGeom>
          <a:solidFill>
            <a:srgbClr val="E8F7EB"/>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191919"/>
                </a:solidFill>
              </a:rPr>
              <a:t>END</a:t>
            </a:r>
          </a:p>
          <a:p>
            <a:pPr algn="ctr"/>
            <a:r>
              <a:rPr sz="750">
                <a:solidFill>
                  <a:srgbClr val="191919"/>
                </a:solidFill>
              </a:rPr>
              <a:t>Incident closed with complete history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D8EC9D9-414E-5FB9-B24A-8B7685354E11}"/>
              </a:ext>
            </a:extLst>
          </p:cNvPr>
          <p:cNvGraphicFramePr>
            <a:graphicFrameLocks noGrp="1"/>
          </p:cNvGraphicFramePr>
          <p:nvPr>
            <p:extLst>
              <p:ext uri="{D42A27DB-BD31-4B8C-83A1-F6EECF244321}">
                <p14:modId xmlns:p14="http://schemas.microsoft.com/office/powerpoint/2010/main" val="3650351859"/>
              </p:ext>
            </p:extLst>
          </p:nvPr>
        </p:nvGraphicFramePr>
        <p:xfrm>
          <a:off x="1754156" y="1137031"/>
          <a:ext cx="8192277" cy="5094631"/>
        </p:xfrm>
        <a:graphic>
          <a:graphicData uri="http://schemas.openxmlformats.org/drawingml/2006/table">
            <a:tbl>
              <a:tblPr>
                <a:tableStyleId>{5C22544A-7EE6-4342-B048-85BDC9FD1C3A}</a:tableStyleId>
              </a:tblPr>
              <a:tblGrid>
                <a:gridCol w="2730759">
                  <a:extLst>
                    <a:ext uri="{9D8B030D-6E8A-4147-A177-3AD203B41FA5}">
                      <a16:colId xmlns:a16="http://schemas.microsoft.com/office/drawing/2014/main" val="3927649832"/>
                    </a:ext>
                  </a:extLst>
                </a:gridCol>
                <a:gridCol w="2730759">
                  <a:extLst>
                    <a:ext uri="{9D8B030D-6E8A-4147-A177-3AD203B41FA5}">
                      <a16:colId xmlns:a16="http://schemas.microsoft.com/office/drawing/2014/main" val="1600445934"/>
                    </a:ext>
                  </a:extLst>
                </a:gridCol>
                <a:gridCol w="2730759">
                  <a:extLst>
                    <a:ext uri="{9D8B030D-6E8A-4147-A177-3AD203B41FA5}">
                      <a16:colId xmlns:a16="http://schemas.microsoft.com/office/drawing/2014/main" val="3421306975"/>
                    </a:ext>
                  </a:extLst>
                </a:gridCol>
              </a:tblGrid>
              <a:tr h="169524">
                <a:tc>
                  <a:txBody>
                    <a:bodyPr wrap="square"/>
                    <a:lstStyle/>
                    <a:p/>
                  </a:txBody>
                  <a:tcPr marL="40290" marR="40290" marT="20145" marB="20145" anchor="ctr"/>
                </a:tc>
                <a:tc>
                  <a:txBody>
                    <a:bodyPr wrap="square"/>
                    <a:lstStyle/>
                    <a:p>
                      <a:r>
                        <a:rPr sz="900" b="1"/>
                        <a:t>Activity</a:t>
                      </a:r>
                    </a:p>
                  </a:txBody>
                  <a:tcPr marL="40290" marR="40290" marT="20145" marB="20145" anchor="ctr"/>
                </a:tc>
                <a:tc>
                  <a:txBody>
                    <a:bodyPr wrap="square"/>
                    <a:lstStyle/>
                    <a:p>
                      <a:r>
                        <a:rPr sz="900" b="1"/>
                        <a:t>Description</a:t>
                      </a:r>
                    </a:p>
                  </a:txBody>
                  <a:tcPr marL="40290" marR="40290" marT="20145" marB="20145" anchor="ctr"/>
                </a:tc>
                <a:extLst>
                  <a:ext uri="{0D108BD9-81ED-4DB2-BD59-A6C34878D82A}">
                    <a16:rowId xmlns:a16="http://schemas.microsoft.com/office/drawing/2014/main" val="1441200723"/>
                  </a:ext>
                </a:extLst>
              </a:tr>
              <a:tr h="296941">
                <a:tc>
                  <a:txBody>
                    <a:bodyPr wrap="square"/>
                    <a:lstStyle/>
                    <a:p>
                      <a:r>
                        <a:rPr sz="800"/>
                        <a:t>Phase 1</a:t>
                      </a:r>
                    </a:p>
                  </a:txBody>
                  <a:tcPr marL="40290" marR="40290" marT="20145" marB="20145" anchor="ctr"/>
                </a:tc>
                <a:tc>
                  <a:txBody>
                    <a:bodyPr wrap="square"/>
                    <a:lstStyle/>
                    <a:p>
                      <a:r>
                        <a:rPr sz="800"/>
                        <a:t>Requirement Analysis</a:t>
                      </a:r>
                    </a:p>
                  </a:txBody>
                  <a:tcPr marL="40290" marR="40290" marT="20145" marB="20145" anchor="ctr"/>
                </a:tc>
                <a:tc>
                  <a:txBody>
                    <a:bodyPr wrap="square"/>
                    <a:lstStyle/>
                    <a:p>
                      <a:r>
                        <a:rPr sz="800"/>
                        <a:t>Define users, incident types, workflow, access roles and security requirements.</a:t>
                      </a:r>
                    </a:p>
                  </a:txBody>
                  <a:tcPr marL="40290" marR="40290" marT="20145" marB="20145" anchor="ctr"/>
                </a:tc>
                <a:extLst>
                  <a:ext uri="{0D108BD9-81ED-4DB2-BD59-A6C34878D82A}">
                    <a16:rowId xmlns:a16="http://schemas.microsoft.com/office/drawing/2014/main" val="1430911486"/>
                  </a:ext>
                </a:extLst>
              </a:tr>
              <a:tr h="424359">
                <a:tc>
                  <a:txBody>
                    <a:bodyPr wrap="square"/>
                    <a:lstStyle/>
                    <a:p>
                      <a:r>
                        <a:rPr sz="800"/>
                        <a:t>Phase 2</a:t>
                      </a:r>
                    </a:p>
                  </a:txBody>
                  <a:tcPr marL="40290" marR="40290" marT="20145" marB="20145" anchor="ctr"/>
                </a:tc>
                <a:tc>
                  <a:txBody>
                    <a:bodyPr wrap="square"/>
                    <a:lstStyle/>
                    <a:p>
                      <a:r>
                        <a:rPr sz="800"/>
                        <a:t>Literature Survey</a:t>
                      </a:r>
                    </a:p>
                  </a:txBody>
                  <a:tcPr marL="40290" marR="40290" marT="20145" marB="20145" anchor="ctr"/>
                </a:tc>
                <a:tc>
                  <a:txBody>
                    <a:bodyPr wrap="square"/>
                    <a:lstStyle/>
                    <a:p>
                      <a:r>
                        <a:rPr sz="800"/>
                        <a:t>Study incident-response standards, cybersecurity reporting practices and secure web application principles.</a:t>
                      </a:r>
                    </a:p>
                  </a:txBody>
                  <a:tcPr marL="40290" marR="40290" marT="20145" marB="20145" anchor="ctr"/>
                </a:tc>
                <a:extLst>
                  <a:ext uri="{0D108BD9-81ED-4DB2-BD59-A6C34878D82A}">
                    <a16:rowId xmlns:a16="http://schemas.microsoft.com/office/drawing/2014/main" val="2004652080"/>
                  </a:ext>
                </a:extLst>
              </a:tr>
              <a:tr h="424359">
                <a:tc>
                  <a:txBody>
                    <a:bodyPr wrap="square"/>
                    <a:lstStyle/>
                    <a:p>
                      <a:r>
                        <a:rPr sz="800"/>
                        <a:t>Phase 3</a:t>
                      </a:r>
                    </a:p>
                  </a:txBody>
                  <a:tcPr marL="40290" marR="40290" marT="20145" marB="20145" anchor="ctr"/>
                </a:tc>
                <a:tc>
                  <a:txBody>
                    <a:bodyPr wrap="square"/>
                    <a:lstStyle/>
                    <a:p>
                      <a:r>
                        <a:rPr sz="800"/>
                        <a:t>System Design</a:t>
                      </a:r>
                    </a:p>
                  </a:txBody>
                  <a:tcPr marL="40290" marR="40290" marT="20145" marB="20145" anchor="ctr"/>
                </a:tc>
                <a:tc>
                  <a:txBody>
                    <a:bodyPr wrap="square"/>
                    <a:lstStyle/>
                    <a:p>
                      <a:r>
                        <a:rPr sz="800"/>
                        <a:t>Design frontend, backend, database, authentication and search architecture.</a:t>
                      </a:r>
                    </a:p>
                  </a:txBody>
                  <a:tcPr marL="40290" marR="40290" marT="20145" marB="20145" anchor="ctr"/>
                </a:tc>
                <a:extLst>
                  <a:ext uri="{0D108BD9-81ED-4DB2-BD59-A6C34878D82A}">
                    <a16:rowId xmlns:a16="http://schemas.microsoft.com/office/drawing/2014/main" val="916929128"/>
                  </a:ext>
                </a:extLst>
              </a:tr>
              <a:tr h="296941">
                <a:tc>
                  <a:txBody>
                    <a:bodyPr wrap="square"/>
                    <a:lstStyle/>
                    <a:p>
                      <a:r>
                        <a:rPr sz="800"/>
                        <a:t>Phase 4</a:t>
                      </a:r>
                    </a:p>
                  </a:txBody>
                  <a:tcPr marL="40290" marR="40290" marT="20145" marB="20145" anchor="ctr"/>
                </a:tc>
                <a:tc>
                  <a:txBody>
                    <a:bodyPr wrap="square"/>
                    <a:lstStyle/>
                    <a:p>
                      <a:r>
                        <a:rPr sz="800"/>
                        <a:t>Frontend Development</a:t>
                      </a:r>
                    </a:p>
                  </a:txBody>
                  <a:tcPr marL="40290" marR="40290" marT="20145" marB="20145" anchor="ctr"/>
                </a:tc>
                <a:tc>
                  <a:txBody>
                    <a:bodyPr wrap="square"/>
                    <a:lstStyle/>
                    <a:p>
                      <a:r>
                        <a:rPr sz="800"/>
                        <a:t>Build React pages for login, incident reporting, dashboards and incident details.</a:t>
                      </a:r>
                    </a:p>
                  </a:txBody>
                  <a:tcPr marL="40290" marR="40290" marT="20145" marB="20145" anchor="ctr"/>
                </a:tc>
                <a:extLst>
                  <a:ext uri="{0D108BD9-81ED-4DB2-BD59-A6C34878D82A}">
                    <a16:rowId xmlns:a16="http://schemas.microsoft.com/office/drawing/2014/main" val="3051988304"/>
                  </a:ext>
                </a:extLst>
              </a:tr>
              <a:tr h="296941">
                <a:tc>
                  <a:txBody>
                    <a:bodyPr wrap="square"/>
                    <a:lstStyle/>
                    <a:p>
                      <a:r>
                        <a:rPr sz="800"/>
                        <a:t>Phase 5</a:t>
                      </a:r>
                    </a:p>
                  </a:txBody>
                  <a:tcPr marL="40290" marR="40290" marT="20145" marB="20145" anchor="ctr"/>
                </a:tc>
                <a:tc>
                  <a:txBody>
                    <a:bodyPr wrap="square"/>
                    <a:lstStyle/>
                    <a:p>
                      <a:r>
                        <a:rPr sz="800"/>
                        <a:t>Backend Development</a:t>
                      </a:r>
                    </a:p>
                  </a:txBody>
                  <a:tcPr marL="40290" marR="40290" marT="20145" marB="20145" anchor="ctr"/>
                </a:tc>
                <a:tc>
                  <a:txBody>
                    <a:bodyPr wrap="square"/>
                    <a:lstStyle/>
                    <a:p>
                      <a:r>
                        <a:rPr sz="800"/>
                        <a:t>Develop Spring Boot REST APIs for authentication, incidents, users and status management.</a:t>
                      </a:r>
                    </a:p>
                  </a:txBody>
                  <a:tcPr marL="40290" marR="40290" marT="20145" marB="20145" anchor="ctr"/>
                </a:tc>
                <a:extLst>
                  <a:ext uri="{0D108BD9-81ED-4DB2-BD59-A6C34878D82A}">
                    <a16:rowId xmlns:a16="http://schemas.microsoft.com/office/drawing/2014/main" val="16028098"/>
                  </a:ext>
                </a:extLst>
              </a:tr>
              <a:tr h="424359">
                <a:tc>
                  <a:txBody>
                    <a:bodyPr wrap="square"/>
                    <a:lstStyle/>
                    <a:p>
                      <a:r>
                        <a:rPr sz="800"/>
                        <a:t>Phase 6</a:t>
                      </a:r>
                    </a:p>
                  </a:txBody>
                  <a:tcPr marL="40290" marR="40290" marT="20145" marB="20145" anchor="ctr"/>
                </a:tc>
                <a:tc>
                  <a:txBody>
                    <a:bodyPr wrap="square"/>
                    <a:lstStyle/>
                    <a:p>
                      <a:r>
                        <a:rPr sz="800"/>
                        <a:t>Database Integration</a:t>
                      </a:r>
                    </a:p>
                  </a:txBody>
                  <a:tcPr marL="40290" marR="40290" marT="20145" marB="20145" anchor="ctr"/>
                </a:tc>
                <a:tc>
                  <a:txBody>
                    <a:bodyPr wrap="square"/>
                    <a:lstStyle/>
                    <a:p>
                      <a:r>
                        <a:rPr sz="800"/>
                        <a:t>Connect PostgreSQL for persistent incident and user data.</a:t>
                      </a:r>
                    </a:p>
                  </a:txBody>
                  <a:tcPr marL="40290" marR="40290" marT="20145" marB="20145" anchor="ctr"/>
                </a:tc>
                <a:extLst>
                  <a:ext uri="{0D108BD9-81ED-4DB2-BD59-A6C34878D82A}">
                    <a16:rowId xmlns:a16="http://schemas.microsoft.com/office/drawing/2014/main" val="1017510529"/>
                  </a:ext>
                </a:extLst>
              </a:tr>
              <a:tr h="551776">
                <a:tc>
                  <a:txBody>
                    <a:bodyPr wrap="square"/>
                    <a:lstStyle/>
                    <a:p>
                      <a:r>
                        <a:rPr sz="800"/>
                        <a:t>Phase 7</a:t>
                      </a:r>
                    </a:p>
                  </a:txBody>
                  <a:tcPr marL="40290" marR="40290" marT="20145" marB="20145" anchor="ctr"/>
                </a:tc>
                <a:tc>
                  <a:txBody>
                    <a:bodyPr wrap="square"/>
                    <a:lstStyle/>
                    <a:p>
                      <a:r>
                        <a:rPr sz="800"/>
                        <a:t>Search Integration</a:t>
                      </a:r>
                    </a:p>
                  </a:txBody>
                  <a:tcPr marL="40290" marR="40290" marT="20145" marB="20145" anchor="ctr"/>
                </a:tc>
                <a:tc>
                  <a:txBody>
                    <a:bodyPr wrap="square"/>
                    <a:lstStyle/>
                    <a:p>
                      <a:r>
                        <a:rPr sz="800"/>
                        <a:t>Integrate Elasticsearch for full-text incident search and filtering.</a:t>
                      </a:r>
                    </a:p>
                  </a:txBody>
                  <a:tcPr marL="40290" marR="40290" marT="20145" marB="20145" anchor="ctr"/>
                </a:tc>
                <a:extLst>
                  <a:ext uri="{0D108BD9-81ED-4DB2-BD59-A6C34878D82A}">
                    <a16:rowId xmlns:a16="http://schemas.microsoft.com/office/drawing/2014/main" val="29742730"/>
                  </a:ext>
                </a:extLst>
              </a:tr>
              <a:tr h="424359">
                <a:tc>
                  <a:txBody>
                    <a:bodyPr wrap="square"/>
                    <a:lstStyle/>
                    <a:p>
                      <a:r>
                        <a:rPr sz="800"/>
                        <a:t>Phase 8</a:t>
                      </a:r>
                    </a:p>
                  </a:txBody>
                  <a:tcPr marL="40290" marR="40290" marT="20145" marB="20145" anchor="ctr"/>
                </a:tc>
                <a:tc>
                  <a:txBody>
                    <a:bodyPr wrap="square"/>
                    <a:lstStyle/>
                    <a:p>
                      <a:r>
                        <a:rPr sz="800"/>
                        <a:t>Security Integration</a:t>
                      </a:r>
                    </a:p>
                  </a:txBody>
                  <a:tcPr marL="40290" marR="40290" marT="20145" marB="20145" anchor="ctr"/>
                </a:tc>
                <a:tc>
                  <a:txBody>
                    <a:bodyPr wrap="square"/>
                    <a:lstStyle/>
                    <a:p>
                      <a:r>
                        <a:rPr sz="800"/>
                        <a:t>Implement JWT authentication, Spring Security and role-based authorization.</a:t>
                      </a:r>
                    </a:p>
                  </a:txBody>
                  <a:tcPr marL="40290" marR="40290" marT="20145" marB="20145" anchor="ctr"/>
                </a:tc>
                <a:extLst>
                  <a:ext uri="{0D108BD9-81ED-4DB2-BD59-A6C34878D82A}">
                    <a16:rowId xmlns:a16="http://schemas.microsoft.com/office/drawing/2014/main" val="3421748785"/>
                  </a:ext>
                </a:extLst>
              </a:tr>
              <a:tr h="424359">
                <a:tc>
                  <a:txBody>
                    <a:bodyPr wrap="square"/>
                    <a:lstStyle/>
                    <a:p>
                      <a:r>
                        <a:rPr sz="800"/>
                        <a:t>Phase 9</a:t>
                      </a:r>
                    </a:p>
                  </a:txBody>
                  <a:tcPr marL="40290" marR="40290" marT="20145" marB="20145" anchor="ctr"/>
                </a:tc>
                <a:tc>
                  <a:txBody>
                    <a:bodyPr wrap="square"/>
                    <a:lstStyle/>
                    <a:p>
                      <a:r>
                        <a:rPr sz="800"/>
                        <a:t>Testing &amp; Integration</a:t>
                      </a:r>
                    </a:p>
                  </a:txBody>
                  <a:tcPr marL="40290" marR="40290" marT="20145" marB="20145" anchor="ctr"/>
                </a:tc>
                <a:tc>
                  <a:txBody>
                    <a:bodyPr wrap="square"/>
                    <a:lstStyle/>
                    <a:p>
                      <a:r>
                        <a:rPr sz="800"/>
                        <a:t>Test APIs, workflows, access control, search, usability and reliability.</a:t>
                      </a:r>
                    </a:p>
                  </a:txBody>
                  <a:tcPr marL="40290" marR="40290" marT="20145" marB="20145" anchor="ctr"/>
                </a:tc>
                <a:extLst>
                  <a:ext uri="{0D108BD9-81ED-4DB2-BD59-A6C34878D82A}">
                    <a16:rowId xmlns:a16="http://schemas.microsoft.com/office/drawing/2014/main" val="2901433378"/>
                  </a:ext>
                </a:extLst>
              </a:tr>
              <a:tr h="424359">
                <a:tc>
                  <a:txBody>
                    <a:bodyPr wrap="square"/>
                    <a:lstStyle/>
                    <a:p>
                      <a:r>
                        <a:rPr sz="800"/>
                        <a:t>Phase 10</a:t>
                      </a:r>
                    </a:p>
                  </a:txBody>
                  <a:tcPr marL="40290" marR="40290" marT="20145" marB="20145" anchor="ctr"/>
                </a:tc>
                <a:tc>
                  <a:txBody>
                    <a:bodyPr wrap="square"/>
                    <a:lstStyle/>
                    <a:p>
                      <a:r>
                        <a:rPr sz="800"/>
                        <a:t>Docker &amp; Deployment</a:t>
                      </a:r>
                    </a:p>
                  </a:txBody>
                  <a:tcPr marL="40290" marR="40290" marT="20145" marB="20145" anchor="ctr"/>
                </a:tc>
                <a:tc>
                  <a:txBody>
                    <a:bodyPr wrap="square"/>
                    <a:lstStyle/>
                    <a:p>
                      <a:r>
                        <a:rPr sz="800"/>
                        <a:t>Containerize services with Docker and prepare deployment configuration.</a:t>
                      </a:r>
                    </a:p>
                  </a:txBody>
                  <a:tcPr marL="40290" marR="40290" marT="20145" marB="20145" anchor="ctr"/>
                </a:tc>
                <a:extLst>
                  <a:ext uri="{0D108BD9-81ED-4DB2-BD59-A6C34878D82A}">
                    <a16:rowId xmlns:a16="http://schemas.microsoft.com/office/drawing/2014/main" val="1833811249"/>
                  </a:ext>
                </a:extLst>
              </a:tr>
              <a:tr h="424359">
                <a:tc>
                  <a:txBody>
                    <a:bodyPr wrap="square"/>
                    <a:lstStyle/>
                    <a:p>
                      <a:r>
                        <a:rPr sz="800"/>
                        <a:t>Phase 11</a:t>
                      </a:r>
                    </a:p>
                  </a:txBody>
                  <a:tcPr marL="40290" marR="40290" marT="20145" marB="20145" anchor="ctr"/>
                </a:tc>
                <a:tc>
                  <a:txBody>
                    <a:bodyPr wrap="square"/>
                    <a:lstStyle/>
                    <a:p>
                      <a:r>
                        <a:rPr sz="800"/>
                        <a:t>Documentation</a:t>
                      </a:r>
                    </a:p>
                  </a:txBody>
                  <a:tcPr marL="40290" marR="40290" marT="20145" marB="20145" anchor="ctr"/>
                </a:tc>
                <a:tc>
                  <a:txBody>
                    <a:bodyPr wrap="square"/>
                    <a:lstStyle/>
                    <a:p>
                      <a:r>
                        <a:rPr sz="800"/>
                        <a:t>Prepare report, presentation, user documentation and project demonstration.</a:t>
                      </a:r>
                    </a:p>
                  </a:txBody>
                  <a:tcPr marL="40290" marR="40290" marT="20145" marB="20145" anchor="ctr"/>
                </a:tc>
                <a:extLst>
                  <a:ext uri="{0D108BD9-81ED-4DB2-BD59-A6C34878D82A}">
                    <a16:rowId xmlns:a16="http://schemas.microsoft.com/office/drawing/2014/main" val="1667402782"/>
                  </a:ext>
                </a:extLst>
              </a:tr>
            </a:tbl>
          </a:graphicData>
        </a:graphic>
      </p:graphicFrame>
      <p:graphicFrame>
        <p:nvGraphicFramePr>
          <p:cNvPr id="4" name="Table 3">
            <a:extLst>
              <a:ext uri="{FF2B5EF4-FFF2-40B4-BE49-F238E27FC236}">
                <a16:creationId xmlns:a16="http://schemas.microsoft.com/office/drawing/2014/main" id="{35A1846B-F9C8-A07C-1106-0616AEB934F1}"/>
              </a:ext>
            </a:extLst>
          </p:cNvPr>
          <p:cNvGraphicFramePr>
            <a:graphicFrameLocks noGrp="1"/>
          </p:cNvGraphicFramePr>
          <p:nvPr>
            <p:extLst>
              <p:ext uri="{D42A27DB-BD31-4B8C-83A1-F6EECF244321}">
                <p14:modId xmlns:p14="http://schemas.microsoft.com/office/powerpoint/2010/main" val="135040076"/>
              </p:ext>
            </p:extLst>
          </p:nvPr>
        </p:nvGraphicFramePr>
        <p:xfrm>
          <a:off x="1647372" y="766191"/>
          <a:ext cx="8405844" cy="370840"/>
        </p:xfrm>
        <a:graphic>
          <a:graphicData uri="http://schemas.openxmlformats.org/drawingml/2006/table">
            <a:tbl>
              <a:tblPr firstRow="1" bandRow="1">
                <a:tableStyleId>{5C22544A-7EE6-4342-B048-85BDC9FD1C3A}</a:tableStyleId>
              </a:tblPr>
              <a:tblGrid>
                <a:gridCol w="2801948">
                  <a:extLst>
                    <a:ext uri="{9D8B030D-6E8A-4147-A177-3AD203B41FA5}">
                      <a16:colId xmlns:a16="http://schemas.microsoft.com/office/drawing/2014/main" val="2158598273"/>
                    </a:ext>
                  </a:extLst>
                </a:gridCol>
                <a:gridCol w="2801948">
                  <a:extLst>
                    <a:ext uri="{9D8B030D-6E8A-4147-A177-3AD203B41FA5}">
                      <a16:colId xmlns:a16="http://schemas.microsoft.com/office/drawing/2014/main" val="2330343167"/>
                    </a:ext>
                  </a:extLst>
                </a:gridCol>
                <a:gridCol w="2801948">
                  <a:extLst>
                    <a:ext uri="{9D8B030D-6E8A-4147-A177-3AD203B41FA5}">
                      <a16:colId xmlns:a16="http://schemas.microsoft.com/office/drawing/2014/main" val="967014481"/>
                    </a:ext>
                  </a:extLst>
                </a:gridCol>
              </a:tblGrid>
              <a:tr h="370840">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7119974"/>
                  </a:ext>
                </a:extLst>
              </a:tr>
            </a:tbl>
          </a:graphicData>
        </a:graphic>
      </p:graphicFrame>
      <p:sp>
        <p:nvSpPr>
          <p:cNvPr id="6" name="Rectangle: Rounded Corners 5">
            <a:extLst>
              <a:ext uri="{FF2B5EF4-FFF2-40B4-BE49-F238E27FC236}">
                <a16:creationId xmlns:a16="http://schemas.microsoft.com/office/drawing/2014/main" id="{A8FF286C-3C98-9539-0548-FB664A3F2C12}"/>
              </a:ext>
            </a:extLst>
          </p:cNvPr>
          <p:cNvSpPr/>
          <p:nvPr/>
        </p:nvSpPr>
        <p:spPr>
          <a:xfrm>
            <a:off x="3490403" y="175757"/>
            <a:ext cx="4719782" cy="517236"/>
          </a:xfrm>
          <a:prstGeom prst="roundRect">
            <a:avLst/>
          </a:prstGeom>
          <a:solidFill>
            <a:srgbClr val="DDEBF7"/>
          </a:solidFill>
        </p:spPr>
        <p:style>
          <a:lnRef idx="2">
            <a:schemeClr val="accent1">
              <a:shade val="15000"/>
            </a:schemeClr>
          </a:lnRef>
          <a:fillRef idx="1">
            <a:schemeClr val="accent1"/>
          </a:fillRef>
          <a:effectRef idx="0">
            <a:schemeClr val="accent1"/>
          </a:effectRef>
          <a:fontRef idx="minor">
            <a:schemeClr val="lt1"/>
          </a:fontRef>
        </p:style>
        <p:txBody>
          <a:bodyPr rtlCol="0" anchor="ctr" wrap="square"/>
          <a:lstStyle/>
          <a:p>
            <a:pPr algn="ctr"/>
            <a:r>
              <a:rPr sz="2000" b="1">
                <a:latin typeface="Times New Roman"/>
              </a:rPr>
              <a:t>Project plan</a:t>
            </a:r>
          </a:p>
        </p:txBody>
      </p:sp>
    </p:spTree>
    <p:extLst>
      <p:ext uri="{BB962C8B-B14F-4D97-AF65-F5344CB8AC3E}">
        <p14:creationId xmlns:p14="http://schemas.microsoft.com/office/powerpoint/2010/main" val="54794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wrap="square"/>
          <a:lstStyle/>
          <a:p>
            <a:r>
              <a:rPr sz="3000" b="1"/>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TotalTime>
  <Words>1069</Words>
  <Application>Microsoft Office PowerPoint</Application>
  <PresentationFormat>Widescreen</PresentationFormat>
  <Paragraphs>160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    Applied Machine Learning for Text Analysis (24ALT3101)  Retrieval-Augmented Medical Question Answering Assistant  Submitted by: K.Navya-240030180 N Deepika – 2420030097 K.Bhavya-2420030181  Group Number: 1  Section: 7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Deepika N</cp:lastModifiedBy>
  <cp:revision>22</cp:revision>
  <dcterms:created xsi:type="dcterms:W3CDTF">2024-08-29T05:25:00Z</dcterms:created>
  <dcterms:modified xsi:type="dcterms:W3CDTF">2026-08-06T14:39:28Z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